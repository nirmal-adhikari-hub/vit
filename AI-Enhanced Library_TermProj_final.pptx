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7" r:id="rId5"/>
    <p:sldId id="276" r:id="rId6"/>
    <p:sldId id="258" r:id="rId7"/>
    <p:sldId id="277" r:id="rId8"/>
    <p:sldId id="278" r:id="rId9"/>
    <p:sldId id="279" r:id="rId10"/>
    <p:sldId id="281" r:id="rId11"/>
    <p:sldId id="280" r:id="rId12"/>
    <p:sldId id="28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52" autoAdjust="0"/>
    <p:restoredTop sz="67707" autoAdjust="0"/>
  </p:normalViewPr>
  <p:slideViewPr>
    <p:cSldViewPr snapToGrid="0">
      <p:cViewPr varScale="1">
        <p:scale>
          <a:sx n="107" d="100"/>
          <a:sy n="107" d="100"/>
        </p:scale>
        <p:origin x="18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7CDB3-62EF-4BA2-B7B2-65E67106EE9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59390-B82E-4F08-9957-2A659802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“Hello everyone, my name is Nirmal Adhikari from the Smart Engineering and BMSE department.</a:t>
            </a:r>
            <a:br>
              <a:rPr lang="en-US" altLang="ko-KR" dirty="0"/>
            </a:br>
            <a:r>
              <a:rPr lang="en-US" altLang="ko-KR" dirty="0"/>
              <a:t>This is my term project for the Advanced Information Retrieval course, and today I’ll be presenting an AI-enhanced library borrowing system designed for a modern campus environment.”</a:t>
            </a:r>
          </a:p>
          <a:p>
            <a:r>
              <a:rPr lang="en-US" altLang="ko-KR" dirty="0"/>
              <a:t>“This system addresses key issues in traditional libraries and brings them closer to smart campus standards using automation, AI, and better data handling.”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00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200" dirty="0"/>
              <a:t>“This project is about upgrading the typical library system into something smarter, faster, and easier to use.”</a:t>
            </a:r>
          </a:p>
          <a:p>
            <a:pPr>
              <a:buNone/>
            </a:pPr>
            <a:r>
              <a:rPr lang="en-US" altLang="ko-KR" sz="1200" dirty="0"/>
              <a:t>“We focused on three key features:-&gt;A smart assistant to help users find books -&gt;Real-time shelf tracking -&gt;And an automated checkout system”</a:t>
            </a:r>
          </a:p>
          <a:p>
            <a:pPr>
              <a:buNone/>
            </a:pPr>
            <a:r>
              <a:rPr lang="en-US" altLang="ko-KR" sz="1200" dirty="0"/>
              <a:t>“The reason we need this is because most campus libraries still rely on manual searching and borrowing. Students waste time, face confusion, and often don’t know if a book is available.”</a:t>
            </a:r>
          </a:p>
          <a:p>
            <a:r>
              <a:rPr lang="en-US" altLang="ko-KR" sz="1200" dirty="0"/>
              <a:t>“The goal is to make the experience feel like using a smart app — something intuitive and instant.”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5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“So why is this the right time for this system?”</a:t>
            </a:r>
          </a:p>
          <a:p>
            <a:pPr>
              <a:buNone/>
            </a:pPr>
            <a:r>
              <a:rPr lang="en-US" altLang="ko-KR" dirty="0"/>
              <a:t>“The current problems are clear:</a:t>
            </a:r>
            <a:br>
              <a:rPr lang="en-US" altLang="ko-KR" dirty="0"/>
            </a:br>
            <a:r>
              <a:rPr lang="en-US" altLang="ko-KR" dirty="0"/>
              <a:t>Students face long search times, books are often unavailable, and checkout is still manual.”</a:t>
            </a:r>
          </a:p>
          <a:p>
            <a:pPr>
              <a:buNone/>
            </a:pPr>
            <a:r>
              <a:rPr lang="en-US" altLang="ko-KR" dirty="0"/>
              <a:t>“Our solution is to bring in AI: An assistant that helps users, tracks books in real-time, and speeds up the whole borrowing process.”    “And more importantly, smart campus technologies are booming. As shown in market reports, investment in smart systems is growing fast — and libraries are next in line.”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4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“This slide shows the full journey of a student using our AI-enhanced library system, starting from the moment they enter the library.”</a:t>
            </a:r>
          </a:p>
          <a:p>
            <a:pPr>
              <a:buNone/>
            </a:pPr>
            <a:r>
              <a:rPr lang="en-US" altLang="ko-KR" dirty="0"/>
              <a:t>“First, the user launches the library app. If they’re not logged in, they go through a quick login or registration process.”</a:t>
            </a:r>
          </a:p>
          <a:p>
            <a:pPr>
              <a:buNone/>
            </a:pPr>
            <a:r>
              <a:rPr lang="en-US" altLang="ko-KR" dirty="0"/>
              <a:t>“Then, they ask the AI assistant to help find a book. If the book is available, the system shows the exact shelf location. If not, it recommends similar books or gives the option to join a waitlist.”</a:t>
            </a:r>
          </a:p>
          <a:p>
            <a:pPr>
              <a:buNone/>
            </a:pPr>
            <a:r>
              <a:rPr lang="en-US" altLang="ko-KR" dirty="0"/>
              <a:t>“Next, the user walks to the shelf, picks the book, and goes to the self-checkout station or uses the app.”</a:t>
            </a:r>
          </a:p>
          <a:p>
            <a:pPr>
              <a:buNone/>
            </a:pPr>
            <a:r>
              <a:rPr lang="en-US" altLang="ko-KR" dirty="0"/>
              <a:t>“Once the checkout is complete, the system automatically updates the borrow status in the database.”</a:t>
            </a:r>
          </a:p>
          <a:p>
            <a:r>
              <a:rPr lang="en-US" altLang="ko-KR" dirty="0"/>
              <a:t>“We’ve also added estimated times for each step to show that the process is fast and efficient — usually under 2 minutes in total.”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30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“This slide explains how our database design answers the key 5W1H questions — who, what, when, where, why, and how.”</a:t>
            </a:r>
          </a:p>
          <a:p>
            <a:pPr>
              <a:buNone/>
            </a:pPr>
            <a:r>
              <a:rPr lang="en-US" altLang="ko-KR" dirty="0"/>
              <a:t>“At the center of everything is </a:t>
            </a:r>
            <a:r>
              <a:rPr lang="en-US" altLang="ko-KR" b="1" dirty="0"/>
              <a:t>HOW</a:t>
            </a:r>
            <a:r>
              <a:rPr lang="en-US" altLang="ko-KR" dirty="0"/>
              <a:t> — our system works through user actions logged in the KIOSK_ACTIVITY table.</a:t>
            </a:r>
            <a:br>
              <a:rPr lang="en-US" altLang="ko-KR" dirty="0"/>
            </a:br>
            <a:r>
              <a:rPr lang="en-US" altLang="ko-KR" dirty="0"/>
              <a:t>Each interaction — like checkout or return — is tied to a real user and a real book. This makes it the core of our operational flow.”</a:t>
            </a:r>
          </a:p>
          <a:p>
            <a:pPr>
              <a:buNone/>
            </a:pPr>
            <a:r>
              <a:rPr lang="en-US" altLang="ko-KR" dirty="0"/>
              <a:t>“</a:t>
            </a:r>
            <a:r>
              <a:rPr lang="en-US" altLang="ko-KR" b="1" dirty="0"/>
              <a:t>WHO</a:t>
            </a:r>
            <a:r>
              <a:rPr lang="en-US" altLang="ko-KR" dirty="0"/>
              <a:t> uses the system is captured in the USERS table — whether it’s students or admins.”</a:t>
            </a:r>
          </a:p>
          <a:p>
            <a:pPr>
              <a:buNone/>
            </a:pPr>
            <a:r>
              <a:rPr lang="en-US" altLang="ko-KR" dirty="0"/>
              <a:t>“</a:t>
            </a:r>
            <a:r>
              <a:rPr lang="en-US" altLang="ko-KR" b="1" dirty="0"/>
              <a:t>WHAT</a:t>
            </a:r>
            <a:r>
              <a:rPr lang="en-US" altLang="ko-KR" dirty="0"/>
              <a:t> objects the system manages — the books — are handled by the BOOKS table and tracked through BORROW_RECORD and WAITLIST.”</a:t>
            </a:r>
          </a:p>
          <a:p>
            <a:pPr>
              <a:buNone/>
            </a:pPr>
            <a:r>
              <a:rPr lang="en-US" altLang="ko-KR" dirty="0"/>
              <a:t>“</a:t>
            </a:r>
            <a:r>
              <a:rPr lang="en-US" altLang="ko-KR" b="1" dirty="0"/>
              <a:t>WHEN</a:t>
            </a:r>
            <a:r>
              <a:rPr lang="en-US" altLang="ko-KR" dirty="0"/>
              <a:t> each action happens is recorded through timestamp fields in every activity table — whether it's borrowing, querying the AI assistant, or using the kiosk.”</a:t>
            </a:r>
          </a:p>
          <a:p>
            <a:pPr>
              <a:buNone/>
            </a:pPr>
            <a:r>
              <a:rPr lang="en-US" altLang="ko-KR" dirty="0"/>
              <a:t>“</a:t>
            </a:r>
            <a:r>
              <a:rPr lang="en-US" altLang="ko-KR" b="1" dirty="0"/>
              <a:t>WHERE</a:t>
            </a:r>
            <a:r>
              <a:rPr lang="en-US" altLang="ko-KR" dirty="0"/>
              <a:t> books are located is managed in the SHELVES table — which gives physical shelf data like aisle, row, and column.”</a:t>
            </a:r>
          </a:p>
          <a:p>
            <a:pPr>
              <a:buNone/>
            </a:pPr>
            <a:r>
              <a:rPr lang="en-US" altLang="ko-KR" dirty="0"/>
              <a:t>“</a:t>
            </a:r>
            <a:r>
              <a:rPr lang="en-US" altLang="ko-KR" b="1" dirty="0"/>
              <a:t>WHY</a:t>
            </a:r>
            <a:r>
              <a:rPr lang="en-US" altLang="ko-KR" dirty="0"/>
              <a:t> certain interactions happen — such as search or waitlisting — is explained by data in AI_QUERY_LOG and WAITLIST, showing user intent and fallback handling.”</a:t>
            </a:r>
          </a:p>
          <a:p>
            <a:r>
              <a:rPr lang="en-US" altLang="ko-KR" dirty="0"/>
              <a:t>“This 5W1H structure proves that our system is not just a set of tables, but a fully thought-out design that maps real-world library logic into relational data.”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14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E06F-6923-2EFF-532B-3E97A3B3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3AB0E-D898-A5CB-9463-3680899A7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585FD-5981-E0D6-A653-C82D99639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2800" dirty="0"/>
              <a:t>“This slide shows how we inserted real data into the system to simulate actual usage.”</a:t>
            </a:r>
          </a:p>
          <a:p>
            <a:pPr>
              <a:buNone/>
            </a:pPr>
            <a:r>
              <a:rPr lang="en-US" altLang="ko-KR" sz="2800" dirty="0"/>
              <a:t>“On the left, we created users, shelves, books, and borrowing records.</a:t>
            </a:r>
            <a:br>
              <a:rPr lang="en-US" altLang="ko-KR" sz="2800" dirty="0"/>
            </a:br>
            <a:r>
              <a:rPr lang="en-US" altLang="ko-KR" sz="2800" dirty="0"/>
              <a:t>You can see Alice Kim borrowing the book </a:t>
            </a:r>
            <a:r>
              <a:rPr lang="en-US" altLang="ko-KR" sz="2800" i="1" dirty="0"/>
              <a:t>Database Design</a:t>
            </a:r>
            <a:r>
              <a:rPr lang="en-US" altLang="ko-KR" sz="2800" dirty="0"/>
              <a:t>, and everything is recorded in our BORROW_RECORD table.”</a:t>
            </a:r>
          </a:p>
          <a:p>
            <a:pPr>
              <a:buNone/>
            </a:pPr>
            <a:r>
              <a:rPr lang="en-US" altLang="ko-KR" sz="2800" dirty="0"/>
              <a:t>“Below that, we verified the data by selecting from each table and checking that all rows were inserted properly.”</a:t>
            </a:r>
          </a:p>
          <a:p>
            <a:pPr>
              <a:buNone/>
            </a:pPr>
            <a:r>
              <a:rPr lang="en-US" altLang="ko-KR" sz="2800" dirty="0"/>
              <a:t>“On the right side, we ran a join query that combines USERS, BOOKS, and BORROW_RECORD tables to show exactly who borrowed what and when.”</a:t>
            </a:r>
          </a:p>
          <a:p>
            <a:r>
              <a:rPr lang="en-US" altLang="ko-KR" sz="2800" dirty="0"/>
              <a:t>“The result shows Alice Kim borrowed </a:t>
            </a:r>
            <a:r>
              <a:rPr lang="en-US" altLang="ko-KR" sz="2800" i="1" dirty="0"/>
              <a:t>Database Design</a:t>
            </a:r>
            <a:r>
              <a:rPr lang="en-US" altLang="ko-KR" sz="2800" dirty="0"/>
              <a:t> on June 8 — this confirms our relationships and foreign keys are working correctly.”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2721B-83A4-08D0-4191-2ADC700F3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81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9C30-409A-7DB3-D059-AA00E7ED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076EF-F265-8FB7-AF04-C70802DBC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014FE-95D0-0472-9A7D-2BC4CB7AA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“This slide continues with our system validation through AI logs and kiosk activity.”</a:t>
            </a:r>
          </a:p>
          <a:p>
            <a:pPr>
              <a:buNone/>
            </a:pPr>
            <a:r>
              <a:rPr lang="en-US" altLang="ko-KR" dirty="0"/>
              <a:t>“On the left, we logged a smart assistant interaction — Alice searched for </a:t>
            </a:r>
            <a:r>
              <a:rPr lang="en-US" altLang="ko-KR" i="1" dirty="0"/>
              <a:t>Machine Learning</a:t>
            </a:r>
            <a:r>
              <a:rPr lang="en-US" altLang="ko-KR" dirty="0"/>
              <a:t>, and the system recommended </a:t>
            </a:r>
            <a:r>
              <a:rPr lang="en-US" altLang="ko-KR" i="1" dirty="0"/>
              <a:t>AI for Beginners</a:t>
            </a:r>
            <a:r>
              <a:rPr lang="en-US" altLang="ko-KR" dirty="0"/>
              <a:t>.”</a:t>
            </a:r>
          </a:p>
          <a:p>
            <a:pPr>
              <a:buNone/>
            </a:pPr>
            <a:r>
              <a:rPr lang="en-US" altLang="ko-KR" dirty="0"/>
              <a:t>“We also inserted a waitlist record, showing that Alice joined the queue for an unavailable book.”</a:t>
            </a:r>
          </a:p>
          <a:p>
            <a:pPr>
              <a:buNone/>
            </a:pPr>
            <a:r>
              <a:rPr lang="en-US" altLang="ko-KR" dirty="0"/>
              <a:t>“On the right side, we show the upgraded KIOSK_ACTIVITY table in action.</a:t>
            </a:r>
            <a:br>
              <a:rPr lang="en-US" altLang="ko-KR" dirty="0"/>
            </a:br>
            <a:r>
              <a:rPr lang="en-US" altLang="ko-KR" dirty="0"/>
              <a:t>This logs how Alice used the kiosk to check out </a:t>
            </a:r>
            <a:r>
              <a:rPr lang="en-US" altLang="ko-KR" i="1" dirty="0"/>
              <a:t>Database Design</a:t>
            </a:r>
            <a:r>
              <a:rPr lang="en-US" altLang="ko-KR" dirty="0"/>
              <a:t> — including the exact time it happened.”</a:t>
            </a:r>
          </a:p>
          <a:p>
            <a:r>
              <a:rPr lang="en-US" altLang="ko-KR"/>
              <a:t>“This final join query confirms that we’ve connected the kiosk to both the user and the book — which completes our 'HOW' component in the system.”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29F8A-78FF-7D45-E7B5-5087FA4CB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05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8611-6E15-4D55-E928-F6C3711F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B4DB2-133A-F8CB-BFAB-E50EE8765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4B3A7-DC70-EBF2-5A5F-393E8D8BB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“To conclude, we’ve not only built a technically sound database — we’ve demonstrated how it reflects real-world use cases, supports intelligent interaction, and contributes to a more efficient and modern library system. This project showcases both practical SQL skills and the design thinking behind user-centered database systems.”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F647-7A79-2C40-3683-C2081F9B0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90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4169-703C-6792-9244-B25ED1DAE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766CE-B554-1DEE-D8E7-3197A5BCF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D6D60-84B8-DF98-3396-108834C43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BDDDE-374E-15D6-FC6E-C444C72A9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59390-B82E-4F08-9957-2A6598024E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4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F922-FF57-25D5-3432-0C715DC94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FA71F-EE29-0495-0533-C44AB487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EFC0B-9C86-0940-3363-5426BA80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24EB-72CC-4438-AFFD-F7549595E698}" type="datetime1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A2-F939-684A-71F3-677F123C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F74C7-BCCC-5EE8-2799-5212AD8D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2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C3E9-5CA8-4AB1-FCFB-A06CB577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AA3A-3322-0A09-D412-7ACE5CEA1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A763C-D50B-8AA8-9325-15E48688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2B21-70AE-47EB-AEC9-E4A7A79ACEEB}" type="datetime1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DCE5-D4B4-D2F8-1ABA-2A4BE19E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21EB-15CE-7BA6-FB18-0D9AC1C2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2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2857-F986-66DA-490D-FD737404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F33-E785-129D-3A9B-2678B1925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C788D-F170-0174-1F43-5CF0D3A5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8E0-DE15-4648-BB7D-DDDF8F282E75}" type="datetime1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87A3F-ACBC-3662-C185-DF6FFB7A3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03F69-613F-5258-AE5B-2FE8AECC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6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6AC5-EA3B-39D5-AEAE-BBE0DCD4C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289D3-8EAB-975C-E993-49FD5FA37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A65E1-5317-6B87-DDC3-28AF0206E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BB1CB-D19F-58C8-4006-9985CE15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1B1B-8EDE-4E9F-A912-B9236189892C}" type="datetime1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11A50-4CF5-596B-B8DC-E6AFE3CF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6E7FA-5212-951A-CC60-AC765956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5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A73D3-7216-457C-A4B3-2E730BB0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E188-2C29-4ACC-9379-7730E215F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4993F-30A1-91C5-94FC-400D983C4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B52BB-A363-50A4-0D34-8BBFE5321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E1E36-878C-1349-5258-BC0A7A58B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4EFDEB-8594-FCE8-AC3A-6E8C15F7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2BCD-20C6-413F-ABC4-A7173174BFB8}" type="datetime1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FAC8F9-30D5-5BA2-B902-64828B2BB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815D4A-72DD-A69D-0F59-09156989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3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1A31-E09E-9913-A2EE-A9FC0048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D7706-0889-F290-784F-0FA1BF3B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E264D-B1FA-4722-BED2-833A6BC09A5A}" type="datetime1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92E19-1CDD-5B49-C6A5-B965D1A4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2BEA2-9D1E-691F-4B64-5FDA87DA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9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3C7E2-04B7-F36B-0D94-6C5E1702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9A79-AE38-424B-8A9F-66C4C41BD778}" type="datetime1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5947B-C9DC-F0D5-934E-D15CB270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83B82-6B47-2CC2-357F-30EFC2B2E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2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5057-DDFC-9E07-3919-BEC8045C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1F0E8-5F6A-B476-97A0-8E52BEB96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FD49B-6596-505B-8900-EA2AD0DC2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80BD7-190C-ADD5-0125-97669F45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6AA0-159F-499E-89B6-3B0A9BCE32DF}" type="datetime1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6207E-E984-CE0B-E054-77DAE0EC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C56F5-55FC-B80E-1705-F79202EC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3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063E-7958-757B-1A5C-AB715D7C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FB0EB-DBFD-94D9-DD78-186DE0EC2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62516-3463-52F6-162E-10BEDDD6B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4B282-1CF6-3D3F-B155-31261A7B5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F2C2-B096-4EC6-8BB2-1FF9DB4F436F}" type="datetime1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0AECC-0909-348C-8BFC-662DDAF5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0B285-4E15-A618-5AAA-EDC42DDCF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2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B2EA-9568-F3E8-A49B-7B479D73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14C9A-F146-A525-567A-F59EF1438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BD291-8CEE-18CB-16DF-691D49F4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8FC2-D036-47D6-9849-7F43B1571DF0}" type="datetime1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99233-C9BC-FFE8-BBC0-1CB75D79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45C49-77F2-634A-8A68-6E600926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3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AADBB-9C46-95E2-56B2-452D152B9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A9583-44D7-285A-B200-AD4768D63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751A-C8B7-A6C0-1B91-75B780A8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540D6-51AE-48D9-BE66-F83F13CBA761}" type="datetime1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D8B51-5173-5FED-1E82-A3DD7844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1B8F2-F5D2-ECAE-7D63-B5243083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986DF-9CA2-47BD-1B39-4DB9AF04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2A804-DBA5-9FDF-40E4-659AD62A2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688FB-469C-F5C5-EF8B-363D0FA63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36334-ADA8-4CE8-AFB4-DDCBC86961C5}" type="datetime1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2720C-2CF7-5423-CDA6-15242D360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AE2C2-6667-C47D-9BC7-3CE807FE2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51CC1-8101-4DF1-AC62-34944751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86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latinLnBrk="0"/>
            <a:r>
              <a:rPr lang="en-US" sz="2600" b="1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AI-Enhanced Library</a:t>
            </a:r>
            <a:br>
              <a:rPr lang="en-US" sz="2600" b="1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Borrowing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398" y="2246520"/>
            <a:ext cx="3508502" cy="3560251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endParaRPr lang="en-US" sz="17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/>
            <a:r>
              <a:rPr lang="en-US" sz="17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Project</a:t>
            </a:r>
          </a:p>
          <a:p>
            <a:pPr latinLnBrk="0"/>
            <a:r>
              <a:rPr lang="en-US" sz="17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Information Retrieval</a:t>
            </a:r>
          </a:p>
          <a:p>
            <a:pPr latinLnBrk="0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 </a:t>
            </a:r>
            <a:r>
              <a:rPr lang="ko-KR" alt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이우기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교수님</a:t>
            </a:r>
            <a:endParaRPr lang="en-US" altLang="ko-K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/>
            <a:endParaRPr lang="en-US" altLang="ko-K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/>
            <a:endParaRPr lang="en-US" altLang="ko-K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/>
            <a:r>
              <a:rPr lang="en-US" altLang="ko-K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Nirmal Adhikari (22241817)</a:t>
            </a:r>
          </a:p>
          <a:p>
            <a:pPr latinLnBrk="0"/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Engineering/BMSE</a:t>
            </a:r>
          </a:p>
        </p:txBody>
      </p:sp>
      <p:pic>
        <p:nvPicPr>
          <p:cNvPr id="8" name="Picture 7" descr="A person reading a book in front of a computer&#10;&#10;AI-generated content may be incorrect.">
            <a:extLst>
              <a:ext uri="{FF2B5EF4-FFF2-40B4-BE49-F238E27FC236}">
                <a16:creationId xmlns:a16="http://schemas.microsoft.com/office/drawing/2014/main" id="{C5C90821-9136-D562-E655-1675DD293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156990"/>
            <a:ext cx="6656832" cy="4443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C13E96-C55D-1ED8-1934-F1F21A7C0095}"/>
              </a:ext>
            </a:extLst>
          </p:cNvPr>
          <p:cNvSpPr txBox="1"/>
          <p:nvPr/>
        </p:nvSpPr>
        <p:spPr>
          <a:xfrm>
            <a:off x="1729038" y="5107098"/>
            <a:ext cx="1615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2025-06-09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774CD-81BC-090B-9040-71BCF79C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56CF-FF70-C8D3-9588-3DB9A8DF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00" y="68238"/>
            <a:ext cx="7907650" cy="54591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Project Overview</a:t>
            </a:r>
            <a:endParaRPr lang="en-US" altLang="ko-KR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60A6-7E6E-CCCB-DD14-EFB4D9F78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00" y="1023725"/>
            <a:ext cx="4629250" cy="483097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project about?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upgrade for campus library borrowing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assistant for finding books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shelf availability tracking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automated checkout</a:t>
            </a:r>
          </a:p>
          <a:p>
            <a:pPr algn="just">
              <a:buNone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build this?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delays and confusion in current library systems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libraries still operate manually</a:t>
            </a:r>
          </a:p>
          <a:p>
            <a:pPr algn="just">
              <a:buNone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goal?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borrowing books as smooth as using a smart app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wait times, help users, modernize campus experience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FA32E1-E79C-6A70-E05E-BC85FA56683D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95B997-7AB5-AE2F-9A9C-60E0B2E6B6C5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artoon of a person in a library&#10;&#10;AI-generated content may be incorrect.">
            <a:extLst>
              <a:ext uri="{FF2B5EF4-FFF2-40B4-BE49-F238E27FC236}">
                <a16:creationId xmlns:a16="http://schemas.microsoft.com/office/drawing/2014/main" id="{D3C57691-B252-D000-D5D2-624D37DAF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21" y="1701800"/>
            <a:ext cx="5285522" cy="35236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788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AA56-1FD0-447E-7B56-A8E3E450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00" y="68238"/>
            <a:ext cx="7907650" cy="54591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Market Demand</a:t>
            </a:r>
            <a:endParaRPr lang="en-US" altLang="ko-KR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3569E-60A6-C42D-B8AF-BAB418F0C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400" y="1792075"/>
            <a:ext cx="3943450" cy="368797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problem?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search times, unavailable books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checkout still common</a:t>
            </a:r>
          </a:p>
          <a:p>
            <a:pPr algn="just">
              <a:buNone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solution?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assistant to help users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book tracking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Smarter, faster borrowing</a:t>
            </a:r>
          </a:p>
          <a:p>
            <a:pPr algn="just">
              <a:buNone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it matter?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tech is booming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are next in line for upgrades</a:t>
            </a:r>
          </a:p>
        </p:txBody>
      </p:sp>
      <p:pic>
        <p:nvPicPr>
          <p:cNvPr id="8" name="Picture 7" descr="A graph of a market size&#10;&#10;AI-generated content may be incorrect.">
            <a:extLst>
              <a:ext uri="{FF2B5EF4-FFF2-40B4-BE49-F238E27FC236}">
                <a16:creationId xmlns:a16="http://schemas.microsoft.com/office/drawing/2014/main" id="{E3373660-CF3A-BB3C-7980-870FE67E9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433" y="1757364"/>
            <a:ext cx="6754045" cy="3797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8F9DE1-89B7-93E5-5DF2-BEB691AE1593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22EDD6-D7B4-1855-C263-0A420A831BC7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30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A721-B810-0834-8E53-68127B15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08454733-4120-12BB-6601-2B23AA1DFF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6033869"/>
              </p:ext>
            </p:extLst>
          </p:nvPr>
        </p:nvGraphicFramePr>
        <p:xfrm>
          <a:off x="768350" y="768350"/>
          <a:ext cx="10725150" cy="528955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74750">
                  <a:extLst>
                    <a:ext uri="{9D8B030D-6E8A-4147-A177-3AD203B41FA5}">
                      <a16:colId xmlns:a16="http://schemas.microsoft.com/office/drawing/2014/main" val="771753497"/>
                    </a:ext>
                  </a:extLst>
                </a:gridCol>
                <a:gridCol w="9550400">
                  <a:extLst>
                    <a:ext uri="{9D8B030D-6E8A-4147-A177-3AD203B41FA5}">
                      <a16:colId xmlns:a16="http://schemas.microsoft.com/office/drawing/2014/main" val="923248465"/>
                    </a:ext>
                  </a:extLst>
                </a:gridCol>
              </a:tblGrid>
              <a:tr h="28561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App </a:t>
                      </a:r>
                    </a:p>
                    <a:p>
                      <a:pPr algn="ctr"/>
                      <a:r>
                        <a:rPr lang="en-US" sz="1400" dirty="0"/>
                        <a:t>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676309"/>
                  </a:ext>
                </a:extLst>
              </a:tr>
              <a:tr h="13067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Physical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323706"/>
                  </a:ext>
                </a:extLst>
              </a:tr>
              <a:tr h="11266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Checkout 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7293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9239E99-22EA-F0B6-5515-31EF7BFF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00" y="68238"/>
            <a:ext cx="7907650" cy="54591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Process Design</a:t>
            </a:r>
            <a:endParaRPr lang="en-US" altLang="ko-KR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E72983-B2BB-014A-7786-9B0EF40CE12B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095DC6-2B01-1A05-DEB5-81E5CE166292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AAADFC7-42DA-FC41-EEAF-AA654771FBF9}"/>
              </a:ext>
            </a:extLst>
          </p:cNvPr>
          <p:cNvSpPr/>
          <p:nvPr/>
        </p:nvSpPr>
        <p:spPr>
          <a:xfrm>
            <a:off x="1997120" y="1329609"/>
            <a:ext cx="793750" cy="5905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289633-A1B2-F362-E49F-2A3AC43CA6EA}"/>
              </a:ext>
            </a:extLst>
          </p:cNvPr>
          <p:cNvSpPr/>
          <p:nvPr/>
        </p:nvSpPr>
        <p:spPr>
          <a:xfrm>
            <a:off x="4213270" y="1367709"/>
            <a:ext cx="7683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Launch App</a:t>
            </a:r>
            <a:endParaRPr lang="en-US" sz="1600" dirty="0"/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0BC9E018-113B-A8F2-244C-722272EA870F}"/>
              </a:ext>
            </a:extLst>
          </p:cNvPr>
          <p:cNvSpPr/>
          <p:nvPr/>
        </p:nvSpPr>
        <p:spPr>
          <a:xfrm>
            <a:off x="5261020" y="1370884"/>
            <a:ext cx="1435100" cy="508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Logged in?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31C100F8-6658-A88A-5103-3F54201CBEE5}"/>
              </a:ext>
            </a:extLst>
          </p:cNvPr>
          <p:cNvSpPr/>
          <p:nvPr/>
        </p:nvSpPr>
        <p:spPr>
          <a:xfrm>
            <a:off x="8498894" y="1326434"/>
            <a:ext cx="1746250" cy="5842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Book</a:t>
            </a:r>
          </a:p>
          <a:p>
            <a:pPr algn="ctr"/>
            <a:r>
              <a:rPr lang="en-US" sz="1200" dirty="0"/>
              <a:t>Available?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D31045-1710-AF3C-CFE5-DF92A6DD7F7F}"/>
              </a:ext>
            </a:extLst>
          </p:cNvPr>
          <p:cNvSpPr/>
          <p:nvPr/>
        </p:nvSpPr>
        <p:spPr>
          <a:xfrm>
            <a:off x="10175294" y="2228134"/>
            <a:ext cx="10731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Recommend alternatives/Waitlist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727BC6-2806-FF29-1552-068E90BD7044}"/>
              </a:ext>
            </a:extLst>
          </p:cNvPr>
          <p:cNvSpPr/>
          <p:nvPr/>
        </p:nvSpPr>
        <p:spPr>
          <a:xfrm>
            <a:off x="8829094" y="2748834"/>
            <a:ext cx="10731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Show shelf location</a:t>
            </a:r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46B601-45B5-094C-1CE4-024866631A23}"/>
              </a:ext>
            </a:extLst>
          </p:cNvPr>
          <p:cNvSpPr/>
          <p:nvPr/>
        </p:nvSpPr>
        <p:spPr>
          <a:xfrm>
            <a:off x="8823996" y="3966246"/>
            <a:ext cx="10731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Move to Shelf</a:t>
            </a:r>
            <a:endParaRPr lang="en-US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8D201B-82D3-5007-8175-A247D4349FE2}"/>
              </a:ext>
            </a:extLst>
          </p:cNvPr>
          <p:cNvSpPr/>
          <p:nvPr/>
        </p:nvSpPr>
        <p:spPr>
          <a:xfrm>
            <a:off x="6806574" y="3964636"/>
            <a:ext cx="10731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Pick Book</a:t>
            </a:r>
            <a:endParaRPr lang="en-US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A1D97C-29E4-3AE3-04EC-D6AC061DEC99}"/>
              </a:ext>
            </a:extLst>
          </p:cNvPr>
          <p:cNvSpPr/>
          <p:nvPr/>
        </p:nvSpPr>
        <p:spPr>
          <a:xfrm>
            <a:off x="6799061" y="5233652"/>
            <a:ext cx="10731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Self-checkout at kiosk/app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82F713-86E9-B5A4-EF92-A25682A1BADE}"/>
              </a:ext>
            </a:extLst>
          </p:cNvPr>
          <p:cNvSpPr/>
          <p:nvPr/>
        </p:nvSpPr>
        <p:spPr>
          <a:xfrm>
            <a:off x="8591193" y="5246442"/>
            <a:ext cx="116840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System updates borrow status</a:t>
            </a:r>
            <a:endParaRPr lang="en-US" sz="16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FC98E8-776C-04A8-20AD-CDC03B5033FB}"/>
              </a:ext>
            </a:extLst>
          </p:cNvPr>
          <p:cNvSpPr/>
          <p:nvPr/>
        </p:nvSpPr>
        <p:spPr>
          <a:xfrm>
            <a:off x="10206194" y="5208342"/>
            <a:ext cx="793750" cy="5905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1CB15C-713F-2C2C-D5F7-2448F82C39A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981620" y="1624884"/>
            <a:ext cx="279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A2E100E-E6EE-887A-FF45-FFC037367128}"/>
              </a:ext>
            </a:extLst>
          </p:cNvPr>
          <p:cNvSpPr/>
          <p:nvPr/>
        </p:nvSpPr>
        <p:spPr>
          <a:xfrm>
            <a:off x="5594395" y="2431334"/>
            <a:ext cx="7683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Login/</a:t>
            </a:r>
          </a:p>
          <a:p>
            <a:pPr algn="ctr"/>
            <a:r>
              <a:rPr lang="en-US" altLang="ko-KR" sz="1200" dirty="0"/>
              <a:t>Register</a:t>
            </a:r>
            <a:endParaRPr lang="en-US" sz="16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FCFBDA-886A-B40E-72E6-BEC257E9CF0F}"/>
              </a:ext>
            </a:extLst>
          </p:cNvPr>
          <p:cNvCxnSpPr>
            <a:cxnSpLocks/>
            <a:stCxn id="14" idx="3"/>
            <a:endCxn id="81" idx="1"/>
          </p:cNvCxnSpPr>
          <p:nvPr/>
        </p:nvCxnSpPr>
        <p:spPr>
          <a:xfrm flipV="1">
            <a:off x="6696120" y="1621709"/>
            <a:ext cx="463550" cy="3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AB1D93-31DE-D0BA-512B-3B1F2CCF01C7}"/>
              </a:ext>
            </a:extLst>
          </p:cNvPr>
          <p:cNvCxnSpPr>
            <a:stCxn id="14" idx="2"/>
            <a:endCxn id="31" idx="0"/>
          </p:cNvCxnSpPr>
          <p:nvPr/>
        </p:nvCxnSpPr>
        <p:spPr>
          <a:xfrm>
            <a:off x="5978570" y="1878884"/>
            <a:ext cx="0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861D3B-B535-CF38-3584-83024EC085D1}"/>
              </a:ext>
            </a:extLst>
          </p:cNvPr>
          <p:cNvCxnSpPr>
            <a:cxnSpLocks/>
            <a:stCxn id="81" idx="3"/>
            <a:endCxn id="17" idx="1"/>
          </p:cNvCxnSpPr>
          <p:nvPr/>
        </p:nvCxnSpPr>
        <p:spPr>
          <a:xfrm flipV="1">
            <a:off x="7928020" y="1618534"/>
            <a:ext cx="570874" cy="3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FA3B3ECD-1FA3-48DB-EDBB-DCD02747632D}"/>
              </a:ext>
            </a:extLst>
          </p:cNvPr>
          <p:cNvCxnSpPr>
            <a:endCxn id="18" idx="0"/>
          </p:cNvCxnSpPr>
          <p:nvPr/>
        </p:nvCxnSpPr>
        <p:spPr>
          <a:xfrm rot="16200000" flipH="1">
            <a:off x="10176881" y="1693146"/>
            <a:ext cx="622300" cy="447675"/>
          </a:xfrm>
          <a:prstGeom prst="bentConnector3">
            <a:avLst>
              <a:gd name="adj1" fmla="val 20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C8116D5-A506-85BF-B83D-9A92B3F27B43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9365669" y="1910634"/>
            <a:ext cx="6350" cy="83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A714C611-2F4B-B258-D12F-A5B2434AC439}"/>
              </a:ext>
            </a:extLst>
          </p:cNvPr>
          <p:cNvCxnSpPr>
            <a:cxnSpLocks/>
            <a:stCxn id="31" idx="3"/>
            <a:endCxn id="81" idx="2"/>
          </p:cNvCxnSpPr>
          <p:nvPr/>
        </p:nvCxnSpPr>
        <p:spPr>
          <a:xfrm flipV="1">
            <a:off x="6362745" y="1878884"/>
            <a:ext cx="1181100" cy="8096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01F43EF4-3732-374A-09DE-307F3BD2ACD5}"/>
              </a:ext>
            </a:extLst>
          </p:cNvPr>
          <p:cNvSpPr/>
          <p:nvPr/>
        </p:nvSpPr>
        <p:spPr>
          <a:xfrm>
            <a:off x="7159670" y="1364534"/>
            <a:ext cx="7683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Ask AI to Find Book</a:t>
            </a:r>
            <a:endParaRPr lang="en-US" sz="16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F9B575-AFAC-F3C0-D8F0-D5A30B542EE2}"/>
              </a:ext>
            </a:extLst>
          </p:cNvPr>
          <p:cNvSpPr txBox="1"/>
          <p:nvPr/>
        </p:nvSpPr>
        <p:spPr>
          <a:xfrm>
            <a:off x="5650785" y="1912512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A7C3920-0244-9E62-ADF1-A72B4C11927A}"/>
              </a:ext>
            </a:extLst>
          </p:cNvPr>
          <p:cNvSpPr txBox="1"/>
          <p:nvPr/>
        </p:nvSpPr>
        <p:spPr>
          <a:xfrm>
            <a:off x="6691827" y="136945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8BD7964-3DF6-0607-4B01-04CC77BEFB8D}"/>
              </a:ext>
            </a:extLst>
          </p:cNvPr>
          <p:cNvSpPr txBox="1"/>
          <p:nvPr/>
        </p:nvSpPr>
        <p:spPr>
          <a:xfrm>
            <a:off x="10201320" y="1369453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CE454C9-8D26-A479-710D-1BE9821F6231}"/>
              </a:ext>
            </a:extLst>
          </p:cNvPr>
          <p:cNvSpPr txBox="1"/>
          <p:nvPr/>
        </p:nvSpPr>
        <p:spPr>
          <a:xfrm>
            <a:off x="9323410" y="209496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2071D71B-08E6-7348-81A4-41FAAD062332}"/>
              </a:ext>
            </a:extLst>
          </p:cNvPr>
          <p:cNvCxnSpPr>
            <a:cxnSpLocks/>
            <a:stCxn id="18" idx="2"/>
            <a:endCxn id="21" idx="3"/>
          </p:cNvCxnSpPr>
          <p:nvPr/>
        </p:nvCxnSpPr>
        <p:spPr>
          <a:xfrm rot="5400000">
            <a:off x="10175295" y="2469434"/>
            <a:ext cx="263525" cy="8096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8EC1153C-A3E5-9781-451F-8A8B38FB68F2}"/>
              </a:ext>
            </a:extLst>
          </p:cNvPr>
          <p:cNvSpPr txBox="1"/>
          <p:nvPr/>
        </p:nvSpPr>
        <p:spPr>
          <a:xfrm>
            <a:off x="4521737" y="1098997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10s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21299B6-D71F-A118-B70B-94096C84F1CD}"/>
              </a:ext>
            </a:extLst>
          </p:cNvPr>
          <p:cNvSpPr txBox="1"/>
          <p:nvPr/>
        </p:nvSpPr>
        <p:spPr>
          <a:xfrm>
            <a:off x="6039298" y="2210873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30s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D540B25-1484-EB70-EFA0-E56D0D546B7F}"/>
              </a:ext>
            </a:extLst>
          </p:cNvPr>
          <p:cNvSpPr txBox="1"/>
          <p:nvPr/>
        </p:nvSpPr>
        <p:spPr>
          <a:xfrm>
            <a:off x="7410897" y="1116169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10s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8F5D857-5B0A-F7D2-8384-566D6C28CBE7}"/>
              </a:ext>
            </a:extLst>
          </p:cNvPr>
          <p:cNvSpPr txBox="1"/>
          <p:nvPr/>
        </p:nvSpPr>
        <p:spPr>
          <a:xfrm>
            <a:off x="10772283" y="1966174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10s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68D25F9-DFBE-B947-5B93-D0CA2425B8C2}"/>
              </a:ext>
            </a:extLst>
          </p:cNvPr>
          <p:cNvSpPr txBox="1"/>
          <p:nvPr/>
        </p:nvSpPr>
        <p:spPr>
          <a:xfrm>
            <a:off x="8801816" y="25070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5s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8527024-F294-A0BB-1E2B-558E2BD22C09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9360571" y="3263184"/>
            <a:ext cx="5098" cy="703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2BF62E2-BF12-7C7C-0BD8-242E0AEA2312}"/>
              </a:ext>
            </a:extLst>
          </p:cNvPr>
          <p:cNvCxnSpPr>
            <a:stCxn id="22" idx="1"/>
            <a:endCxn id="23" idx="3"/>
          </p:cNvCxnSpPr>
          <p:nvPr/>
        </p:nvCxnSpPr>
        <p:spPr>
          <a:xfrm flipH="1" flipV="1">
            <a:off x="7879724" y="4221811"/>
            <a:ext cx="944272" cy="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593F35E-C061-587E-D4C2-7984D755EE9F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 flipH="1">
            <a:off x="7335636" y="4478986"/>
            <a:ext cx="7513" cy="75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3B34279-33BC-FCE4-1B3B-184959FFF269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872211" y="5490827"/>
            <a:ext cx="718982" cy="12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FDE9906-77B0-735A-334D-1273256BEC1E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>
          <a:xfrm>
            <a:off x="9759593" y="5503617"/>
            <a:ext cx="446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E78A7E0-74A9-7747-6187-9BE6DAA0D378}"/>
              </a:ext>
            </a:extLst>
          </p:cNvPr>
          <p:cNvSpPr txBox="1"/>
          <p:nvPr/>
        </p:nvSpPr>
        <p:spPr>
          <a:xfrm>
            <a:off x="9465078" y="3717701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30-90s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6160BE9-F4F5-F969-5607-85FE4C1B8054}"/>
              </a:ext>
            </a:extLst>
          </p:cNvPr>
          <p:cNvSpPr txBox="1"/>
          <p:nvPr/>
        </p:nvSpPr>
        <p:spPr>
          <a:xfrm>
            <a:off x="7179077" y="3724141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10s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C7D38E5-6EFD-B21C-633A-8A2CDDF38279}"/>
              </a:ext>
            </a:extLst>
          </p:cNvPr>
          <p:cNvSpPr txBox="1"/>
          <p:nvPr/>
        </p:nvSpPr>
        <p:spPr>
          <a:xfrm>
            <a:off x="7370115" y="4997002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30-90s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0365CCD-4100-2E94-E1DC-01FB58C3B252}"/>
              </a:ext>
            </a:extLst>
          </p:cNvPr>
          <p:cNvSpPr txBox="1"/>
          <p:nvPr/>
        </p:nvSpPr>
        <p:spPr>
          <a:xfrm>
            <a:off x="9231111" y="4951926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5s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A567007-BD70-9EB3-4252-13C2463265E4}"/>
              </a:ext>
            </a:extLst>
          </p:cNvPr>
          <p:cNvSpPr/>
          <p:nvPr/>
        </p:nvSpPr>
        <p:spPr>
          <a:xfrm>
            <a:off x="3127420" y="1367709"/>
            <a:ext cx="768350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User Enters Library</a:t>
            </a:r>
            <a:endParaRPr lang="en-US" sz="1600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704A428-B927-BB0F-CB0A-6B4E01D8BD68}"/>
              </a:ext>
            </a:extLst>
          </p:cNvPr>
          <p:cNvCxnSpPr>
            <a:stCxn id="10" idx="6"/>
            <a:endCxn id="123" idx="1"/>
          </p:cNvCxnSpPr>
          <p:nvPr/>
        </p:nvCxnSpPr>
        <p:spPr>
          <a:xfrm>
            <a:off x="2790870" y="1624884"/>
            <a:ext cx="336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74748D0-8874-5996-0C5B-B30BC2A6CC9F}"/>
              </a:ext>
            </a:extLst>
          </p:cNvPr>
          <p:cNvCxnSpPr>
            <a:stCxn id="123" idx="3"/>
            <a:endCxn id="13" idx="1"/>
          </p:cNvCxnSpPr>
          <p:nvPr/>
        </p:nvCxnSpPr>
        <p:spPr>
          <a:xfrm>
            <a:off x="3895770" y="1624884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6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315B-880A-ABE2-4049-2AF8B9A5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1DF3C18-59FB-C5BB-CAA7-E58E14737DB6}"/>
              </a:ext>
            </a:extLst>
          </p:cNvPr>
          <p:cNvSpPr/>
          <p:nvPr/>
        </p:nvSpPr>
        <p:spPr>
          <a:xfrm>
            <a:off x="4273973" y="2901103"/>
            <a:ext cx="2008293" cy="1393190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A4591E-A4A1-7FF0-7C3F-EADAF6B3482C}"/>
              </a:ext>
            </a:extLst>
          </p:cNvPr>
          <p:cNvSpPr txBox="1"/>
          <p:nvPr/>
        </p:nvSpPr>
        <p:spPr>
          <a:xfrm>
            <a:off x="5498058" y="2673411"/>
            <a:ext cx="5665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How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F4023C-47BA-0418-C1CA-3F6E200C2535}"/>
              </a:ext>
            </a:extLst>
          </p:cNvPr>
          <p:cNvSpPr/>
          <p:nvPr/>
        </p:nvSpPr>
        <p:spPr>
          <a:xfrm>
            <a:off x="386080" y="4760807"/>
            <a:ext cx="2490894" cy="1240366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C89837-4A9C-42A0-D87B-5C26C7FE84E1}"/>
              </a:ext>
            </a:extLst>
          </p:cNvPr>
          <p:cNvSpPr txBox="1"/>
          <p:nvPr/>
        </p:nvSpPr>
        <p:spPr>
          <a:xfrm>
            <a:off x="2103346" y="4494592"/>
            <a:ext cx="645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Why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D2BD42-2005-EC0D-87A4-EA8293342300}"/>
              </a:ext>
            </a:extLst>
          </p:cNvPr>
          <p:cNvSpPr/>
          <p:nvPr/>
        </p:nvSpPr>
        <p:spPr>
          <a:xfrm>
            <a:off x="9502987" y="966894"/>
            <a:ext cx="2291926" cy="1105746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B83579-1CAD-690B-8929-936FDDFA4E47}"/>
              </a:ext>
            </a:extLst>
          </p:cNvPr>
          <p:cNvSpPr txBox="1"/>
          <p:nvPr/>
        </p:nvSpPr>
        <p:spPr>
          <a:xfrm>
            <a:off x="10950590" y="727771"/>
            <a:ext cx="60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Where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C1D333-F04C-4BA4-3133-04D22ECC6ED3}"/>
              </a:ext>
            </a:extLst>
          </p:cNvPr>
          <p:cNvSpPr/>
          <p:nvPr/>
        </p:nvSpPr>
        <p:spPr>
          <a:xfrm>
            <a:off x="7755467" y="3190240"/>
            <a:ext cx="2133600" cy="1476586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D8E977-D304-E212-9EE0-B3D5AAD995DE}"/>
              </a:ext>
            </a:extLst>
          </p:cNvPr>
          <p:cNvSpPr txBox="1"/>
          <p:nvPr/>
        </p:nvSpPr>
        <p:spPr>
          <a:xfrm>
            <a:off x="9065066" y="2962547"/>
            <a:ext cx="5801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What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B46E39-7D5D-CED6-0F91-6C0DD8FD291E}"/>
              </a:ext>
            </a:extLst>
          </p:cNvPr>
          <p:cNvSpPr/>
          <p:nvPr/>
        </p:nvSpPr>
        <p:spPr>
          <a:xfrm>
            <a:off x="1205654" y="1706879"/>
            <a:ext cx="1625600" cy="1246293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4A7CDC-E9AF-042F-FA0E-ADCD51A00439}"/>
              </a:ext>
            </a:extLst>
          </p:cNvPr>
          <p:cNvSpPr txBox="1"/>
          <p:nvPr/>
        </p:nvSpPr>
        <p:spPr>
          <a:xfrm>
            <a:off x="2185633" y="1497389"/>
            <a:ext cx="571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What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03BC97-D344-EF54-2068-0430CEB086B6}"/>
              </a:ext>
            </a:extLst>
          </p:cNvPr>
          <p:cNvSpPr/>
          <p:nvPr/>
        </p:nvSpPr>
        <p:spPr>
          <a:xfrm>
            <a:off x="5777654" y="975360"/>
            <a:ext cx="2189056" cy="1097280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8AD5C5-3CB0-F390-C71B-BB2215E6D142}"/>
              </a:ext>
            </a:extLst>
          </p:cNvPr>
          <p:cNvSpPr txBox="1"/>
          <p:nvPr/>
        </p:nvSpPr>
        <p:spPr>
          <a:xfrm>
            <a:off x="2317978" y="2630654"/>
            <a:ext cx="5665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What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184604-0E9E-40B3-B052-88954FC89E67}"/>
              </a:ext>
            </a:extLst>
          </p:cNvPr>
          <p:cNvSpPr/>
          <p:nvPr/>
        </p:nvSpPr>
        <p:spPr>
          <a:xfrm>
            <a:off x="4328159" y="5005492"/>
            <a:ext cx="1869441" cy="968587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0EDBB-80CE-08F8-3944-EB9FD49F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00" y="68238"/>
            <a:ext cx="7907650" cy="54591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Database Design</a:t>
            </a:r>
            <a:endParaRPr lang="en-US" altLang="ko-KR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27905D-29C3-9FF9-CB69-33FAC36ACC9F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C3A796-E7DC-82BD-6098-4B1783DDF716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0F9D99-DBD7-506A-DD2E-E821FEE08D30}"/>
              </a:ext>
            </a:extLst>
          </p:cNvPr>
          <p:cNvSpPr txBox="1"/>
          <p:nvPr/>
        </p:nvSpPr>
        <p:spPr>
          <a:xfrm>
            <a:off x="4969510" y="4663440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Who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3AED898-D0B3-3E24-E8CF-BEFCAB660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77706" y="67734"/>
            <a:ext cx="11998573" cy="58842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CCF722-F76D-8F78-C71D-1563E0FFCEBC}"/>
              </a:ext>
            </a:extLst>
          </p:cNvPr>
          <p:cNvSpPr txBox="1"/>
          <p:nvPr/>
        </p:nvSpPr>
        <p:spPr>
          <a:xfrm>
            <a:off x="6745198" y="771374"/>
            <a:ext cx="6220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173667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6141B-3183-EA50-87F7-0E96617E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19CC-7B4C-ECBE-C74E-D2456004D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00" y="68238"/>
            <a:ext cx="7907650" cy="54591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Data Insertion and Querying</a:t>
            </a:r>
            <a:endParaRPr lang="en-US" altLang="ko-KR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8016B5-06D0-7D9A-B98F-27381A6EE2AA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DDB6A9-FA7C-58FD-79C9-53D20CB00F99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0AD18DA-03A7-7488-D38F-D44CA1E86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863" y="1557867"/>
            <a:ext cx="4139608" cy="30953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976783-A72D-1BFF-20E0-AAC62F7AE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179" r="12400"/>
          <a:stretch/>
        </p:blipFill>
        <p:spPr>
          <a:xfrm>
            <a:off x="7068471" y="4527186"/>
            <a:ext cx="4178507" cy="8864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3D3282-9DBD-2E3C-48A3-12BA8443B838}"/>
              </a:ext>
            </a:extLst>
          </p:cNvPr>
          <p:cNvSpPr txBox="1"/>
          <p:nvPr/>
        </p:nvSpPr>
        <p:spPr>
          <a:xfrm>
            <a:off x="7052491" y="1248913"/>
            <a:ext cx="3641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Borrowing Operation Demonstration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86D12D-5471-431D-F1B6-0C7444C9342D}"/>
              </a:ext>
            </a:extLst>
          </p:cNvPr>
          <p:cNvGrpSpPr/>
          <p:nvPr/>
        </p:nvGrpSpPr>
        <p:grpSpPr>
          <a:xfrm>
            <a:off x="1072605" y="753289"/>
            <a:ext cx="4881155" cy="5308843"/>
            <a:chOff x="544285" y="753290"/>
            <a:chExt cx="4073435" cy="50335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815FEA2-043E-E846-5CBB-BBEC657C5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634" y="1017451"/>
              <a:ext cx="3994086" cy="207844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FD0F73F-65E1-9D86-0CE1-6597B64B7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1461"/>
            <a:stretch/>
          </p:blipFill>
          <p:spPr>
            <a:xfrm>
              <a:off x="645425" y="3853542"/>
              <a:ext cx="3123209" cy="66620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CBBDC9-0B55-4320-687F-768CE43936A6}"/>
                </a:ext>
              </a:extLst>
            </p:cNvPr>
            <p:cNvSpPr txBox="1"/>
            <p:nvPr/>
          </p:nvSpPr>
          <p:spPr>
            <a:xfrm>
              <a:off x="544285" y="753290"/>
              <a:ext cx="18266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Polluting Database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A2D95E3-FFF7-946E-05F9-81B613A71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2650" y="4539342"/>
              <a:ext cx="3646248" cy="73151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9B25FFC-EED5-F810-034D-0BFAC1FE0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2592" y="5273682"/>
              <a:ext cx="3655089" cy="51316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6448257-8853-509E-8173-9C516B177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5854" y="3171104"/>
              <a:ext cx="2076740" cy="581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296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60E6-6E58-13C6-74E9-E9227B29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3243-E1A8-4C47-C495-F4D876EB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00" y="68238"/>
            <a:ext cx="7907650" cy="54591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Data Insertion and Querying</a:t>
            </a:r>
            <a:endParaRPr lang="en-US" altLang="ko-KR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1E4DD-FF2D-1E74-EB93-09B8B2BA11A3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0A7A0E-07F6-2195-ACB6-7A9E7CE79F90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3874E4C-F93B-800A-A562-073140733705}"/>
              </a:ext>
            </a:extLst>
          </p:cNvPr>
          <p:cNvGrpSpPr/>
          <p:nvPr/>
        </p:nvGrpSpPr>
        <p:grpSpPr>
          <a:xfrm>
            <a:off x="1489166" y="1032641"/>
            <a:ext cx="3722914" cy="5047393"/>
            <a:chOff x="8177349" y="1359938"/>
            <a:chExt cx="3526972" cy="47600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B302051-2B85-269E-AC75-C4992BABEDE9}"/>
                </a:ext>
              </a:extLst>
            </p:cNvPr>
            <p:cNvGrpSpPr/>
            <p:nvPr/>
          </p:nvGrpSpPr>
          <p:grpSpPr>
            <a:xfrm>
              <a:off x="8199328" y="4090904"/>
              <a:ext cx="3504993" cy="2029043"/>
              <a:chOff x="8460584" y="2026974"/>
              <a:chExt cx="3531121" cy="203301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FA50198-5E8C-05AB-98E8-0218319DDC89}"/>
                  </a:ext>
                </a:extLst>
              </p:cNvPr>
              <p:cNvGrpSpPr/>
              <p:nvPr/>
            </p:nvGrpSpPr>
            <p:grpSpPr>
              <a:xfrm>
                <a:off x="8460584" y="2026974"/>
                <a:ext cx="2661969" cy="2031220"/>
                <a:chOff x="8460584" y="2026974"/>
                <a:chExt cx="2661969" cy="2031220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D2E5F119-8DF6-F715-5A79-98B21B0BF462}"/>
                    </a:ext>
                  </a:extLst>
                </p:cNvPr>
                <p:cNvGrpSpPr/>
                <p:nvPr/>
              </p:nvGrpSpPr>
              <p:grpSpPr>
                <a:xfrm>
                  <a:off x="8460584" y="2026974"/>
                  <a:ext cx="2661969" cy="2017620"/>
                  <a:chOff x="8460584" y="2026974"/>
                  <a:chExt cx="2661969" cy="2017620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064A9B7B-7AEC-C46A-2C1C-C775F70AEA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460584" y="2026974"/>
                    <a:ext cx="1852542" cy="2017620"/>
                  </a:xfrm>
                  <a:prstGeom prst="rect">
                    <a:avLst/>
                  </a:prstGeom>
                </p:spPr>
              </p:pic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6167ABA8-6E76-1B4F-99D4-2F9C1C5344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286916" y="2540951"/>
                    <a:ext cx="835637" cy="4831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72B49015-924E-D832-1804-1E411A59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67863" y="3637145"/>
                  <a:ext cx="842098" cy="421049"/>
                </a:xfrm>
                <a:prstGeom prst="rect">
                  <a:avLst/>
                </a:prstGeom>
              </p:spPr>
            </p:pic>
          </p:grp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FA4CCDB-B31A-EB52-FEE4-23A0B27425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81431" y="3664132"/>
                <a:ext cx="810274" cy="395859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1585C6C-D35C-136E-9016-51CDA5AD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733"/>
            <a:stretch/>
          </p:blipFill>
          <p:spPr>
            <a:xfrm>
              <a:off x="8177349" y="1359938"/>
              <a:ext cx="2950780" cy="2676485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180B0A8-1D2B-9E98-E433-46C1BCE4162A}"/>
              </a:ext>
            </a:extLst>
          </p:cNvPr>
          <p:cNvSpPr txBox="1"/>
          <p:nvPr/>
        </p:nvSpPr>
        <p:spPr>
          <a:xfrm>
            <a:off x="1471748" y="726439"/>
            <a:ext cx="1879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AI Assistant Query Log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355998C-79A0-0814-8F9A-57F49BFB9622}"/>
              </a:ext>
            </a:extLst>
          </p:cNvPr>
          <p:cNvGrpSpPr/>
          <p:nvPr/>
        </p:nvGrpSpPr>
        <p:grpSpPr>
          <a:xfrm>
            <a:off x="6853161" y="1034626"/>
            <a:ext cx="3931420" cy="3504195"/>
            <a:chOff x="6954761" y="1596813"/>
            <a:chExt cx="3931420" cy="350419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201EE4F-3379-A3F4-08E1-2A942618BCC9}"/>
                </a:ext>
              </a:extLst>
            </p:cNvPr>
            <p:cNvGrpSpPr/>
            <p:nvPr/>
          </p:nvGrpSpPr>
          <p:grpSpPr>
            <a:xfrm>
              <a:off x="6977501" y="1946995"/>
              <a:ext cx="3908680" cy="3154013"/>
              <a:chOff x="6591421" y="2231475"/>
              <a:chExt cx="3908680" cy="3154013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EC377823-5294-1C1C-E571-36BD349BC7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07980" y="2231475"/>
                <a:ext cx="2105319" cy="295316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233D65A-FD83-47D7-D0B4-03716D8A9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2885" y="2542610"/>
                <a:ext cx="3877216" cy="485843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67EB7624-9AFA-F0ED-7349-D3512EBDB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91421" y="3010323"/>
                <a:ext cx="2829320" cy="1514686"/>
              </a:xfrm>
              <a:prstGeom prst="rect">
                <a:avLst/>
              </a:prstGeom>
            </p:spPr>
          </p:pic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99DD0452-C96E-3F76-1938-B792178BD0EF}"/>
                  </a:ext>
                </a:extLst>
              </p:cNvPr>
              <p:cNvGrpSpPr/>
              <p:nvPr/>
            </p:nvGrpSpPr>
            <p:grpSpPr>
              <a:xfrm>
                <a:off x="6649668" y="4544907"/>
                <a:ext cx="3848999" cy="840581"/>
                <a:chOff x="7259267" y="3843180"/>
                <a:chExt cx="3450159" cy="743054"/>
              </a:xfrm>
            </p:grpSpPr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C666B43B-8699-AAA9-6E27-90DD479817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1024" y="3843180"/>
                  <a:ext cx="933580" cy="743054"/>
                </a:xfrm>
                <a:prstGeom prst="rect">
                  <a:avLst/>
                </a:prstGeom>
              </p:spPr>
            </p:pic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D66DA60E-98A0-00B9-67C5-1B1CA09B6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21961" y="3855460"/>
                  <a:ext cx="1238423" cy="704948"/>
                </a:xfrm>
                <a:prstGeom prst="rect">
                  <a:avLst/>
                </a:prstGeom>
              </p:spPr>
            </p:pic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28D829F6-8E4F-AC4D-6259-D9582A0173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59267" y="3886267"/>
                  <a:ext cx="762106" cy="562053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C702D3D6-42DC-8D7C-C0BF-9742323E38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71162" y="3846151"/>
                  <a:ext cx="638264" cy="628738"/>
                </a:xfrm>
                <a:prstGeom prst="rect">
                  <a:avLst/>
                </a:prstGeom>
              </p:spPr>
            </p:pic>
          </p:grp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572A66-0190-4B78-0A67-7AFEE140BC53}"/>
                </a:ext>
              </a:extLst>
            </p:cNvPr>
            <p:cNvSpPr txBox="1"/>
            <p:nvPr/>
          </p:nvSpPr>
          <p:spPr>
            <a:xfrm>
              <a:off x="6954761" y="1596813"/>
              <a:ext cx="22509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Kiosk Action Demonstration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75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C635-DFBA-DD07-77FE-08CD01BD4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BA1E-B9C1-82E5-9CD8-301ADA60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00" y="68238"/>
            <a:ext cx="7907650" cy="54591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Conclusion</a:t>
            </a:r>
            <a:endParaRPr lang="en-US" altLang="ko-KR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63BEE5-79A8-D57C-42FE-CA059F6226B6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F4405C-31CC-4BB7-25B5-2A177CC4C140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FBBCD3-57B5-8208-1BF8-532C6A477979}"/>
              </a:ext>
            </a:extLst>
          </p:cNvPr>
          <p:cNvSpPr txBox="1"/>
          <p:nvPr/>
        </p:nvSpPr>
        <p:spPr>
          <a:xfrm>
            <a:off x="2380706" y="1771752"/>
            <a:ext cx="78475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What We Did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Designed an AI-enhanced library borrowing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Modeled the entire process: from search to borrowing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Built a normalized relational database with 7 linked tables</a:t>
            </a:r>
          </a:p>
          <a:p>
            <a:r>
              <a:rPr lang="en-US" altLang="ko-KR" sz="1600" b="1" dirty="0"/>
              <a:t>What We Proved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Inserted real data into all key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Ran multi-table join queries to verify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Logged smart assistant queries and waitlist actions</a:t>
            </a:r>
          </a:p>
          <a:p>
            <a:r>
              <a:rPr lang="en-US" altLang="ko-KR" sz="1600" b="1" dirty="0"/>
              <a:t>Why It Matters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The system modernizes campus libraries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Reduces time, confusion, and manual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Easily scalable and ready for intelligent extensions</a:t>
            </a:r>
          </a:p>
        </p:txBody>
      </p:sp>
    </p:spTree>
    <p:extLst>
      <p:ext uri="{BB962C8B-B14F-4D97-AF65-F5344CB8AC3E}">
        <p14:creationId xmlns:p14="http://schemas.microsoft.com/office/powerpoint/2010/main" val="70322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E9B9-D186-E3A2-A306-15BE416E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67455D-D4E6-296C-3BC9-D03D39ED678F}"/>
              </a:ext>
            </a:extLst>
          </p:cNvPr>
          <p:cNvCxnSpPr/>
          <p:nvPr/>
        </p:nvCxnSpPr>
        <p:spPr>
          <a:xfrm>
            <a:off x="0" y="6794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C56416-A903-FF29-BFE0-E1FD182224BB}"/>
              </a:ext>
            </a:extLst>
          </p:cNvPr>
          <p:cNvCxnSpPr/>
          <p:nvPr/>
        </p:nvCxnSpPr>
        <p:spPr>
          <a:xfrm>
            <a:off x="-6350" y="61785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FB1912-9131-54DD-413E-1C1F2C4DA944}"/>
              </a:ext>
            </a:extLst>
          </p:cNvPr>
          <p:cNvSpPr txBox="1"/>
          <p:nvPr/>
        </p:nvSpPr>
        <p:spPr>
          <a:xfrm>
            <a:off x="3348894" y="2246882"/>
            <a:ext cx="78475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2432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9dc538-f05d-4344-82b9-148376f369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4BFE7349B325C438D39A191C71CB847" ma:contentTypeVersion="5" ma:contentTypeDescription="새 문서를 만듭니다." ma:contentTypeScope="" ma:versionID="6f838b0d17685296f645638ee491bc20">
  <xsd:schema xmlns:xsd="http://www.w3.org/2001/XMLSchema" xmlns:xs="http://www.w3.org/2001/XMLSchema" xmlns:p="http://schemas.microsoft.com/office/2006/metadata/properties" xmlns:ns3="b99dc538-f05d-4344-82b9-148376f369db" targetNamespace="http://schemas.microsoft.com/office/2006/metadata/properties" ma:root="true" ma:fieldsID="f856fbf610b31ad316944e3f8c42eafe" ns3:_="">
    <xsd:import namespace="b99dc538-f05d-4344-82b9-148376f369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dc538-f05d-4344-82b9-148376f369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AFCD6D-E4E8-4DE4-A7F6-0268DD878230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b99dc538-f05d-4344-82b9-148376f369d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590B585-C78E-4E51-A274-D25820D507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E344C0-DB15-44B9-AB43-B605FEF32A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9dc538-f05d-4344-82b9-148376f369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1317</Words>
  <Application>Microsoft Office PowerPoint</Application>
  <PresentationFormat>Widescreen</PresentationFormat>
  <Paragraphs>142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Times New Roman</vt:lpstr>
      <vt:lpstr>Office Theme</vt:lpstr>
      <vt:lpstr>AI-Enhanced Library Borrowing System</vt:lpstr>
      <vt:lpstr>Project Overview</vt:lpstr>
      <vt:lpstr>Market Demand</vt:lpstr>
      <vt:lpstr>Process Design</vt:lpstr>
      <vt:lpstr>Database Design</vt:lpstr>
      <vt:lpstr>Data Insertion and Querying</vt:lpstr>
      <vt:lpstr>Data Insertion and Querying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니르말아디카리</dc:creator>
  <cp:lastModifiedBy>니르말아디카리</cp:lastModifiedBy>
  <cp:revision>5</cp:revision>
  <dcterms:created xsi:type="dcterms:W3CDTF">2025-06-08T08:17:23Z</dcterms:created>
  <dcterms:modified xsi:type="dcterms:W3CDTF">2025-06-09T08:02:25Z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0x010100D4BFE7349B325C438D39A191C71CB847</vt:lpwstr>
  </property>
</Properties>
</file>