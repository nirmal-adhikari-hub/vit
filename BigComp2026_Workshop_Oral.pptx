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72" r:id="rId4"/>
    <p:sldId id="274" r:id="rId5"/>
    <p:sldId id="257" r:id="rId6"/>
    <p:sldId id="269" r:id="rId7"/>
    <p:sldId id="270" r:id="rId8"/>
    <p:sldId id="281" r:id="rId9"/>
    <p:sldId id="282" r:id="rId10"/>
    <p:sldId id="278" r:id="rId11"/>
    <p:sldId id="275" r:id="rId12"/>
    <p:sldId id="276" r:id="rId13"/>
    <p:sldId id="283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85" autoAdjust="0"/>
  </p:normalViewPr>
  <p:slideViewPr>
    <p:cSldViewPr snapToGrid="0" snapToObjects="1">
      <p:cViewPr varScale="1">
        <p:scale>
          <a:sx n="123" d="100"/>
          <a:sy n="123" d="100"/>
        </p:scale>
        <p:origin x="16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71D7A-6D34-4F3C-993B-600A91A2CFC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54817-E93C-43C4-B1EE-35AD97DE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65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59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86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94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3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26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53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07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ACCD0-6723-3E2F-650E-52037051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95C6B-2CB8-E2CF-8610-C4F88AEF4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E25EB-F6AB-54E0-2972-C457A925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26CC9-94A8-FF1E-BA9E-C810800D4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77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EC0D-5FD8-6430-ED73-D3C20304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2FCE2-AC0C-D29B-E6B0-FF0B8A142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ACF2B-EFF4-D722-10E6-A59596E42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9381D-67DC-C5F9-C6ED-BBF30D1B8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14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9E428-8018-CE93-8BBE-D4378ADBD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C39DF-AB90-F3CF-BE29-96761D11A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8913A-18E2-E038-90CD-5CF361147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F2730-30DC-815C-9BD8-5BDF3AD5F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3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25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39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E8BD8-4F98-38F5-7D9D-D23CB560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0B113-E463-E1FF-5782-EAA02769B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7DB50-9AF7-DE76-BECB-9737C159B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C5AF1-5DCA-6CD6-648B-A84C935CE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54817-E93C-43C4-B1EE-35AD97DEF3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54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1.png"/><Relationship Id="rId4" Type="http://schemas.openxmlformats.org/officeDocument/2006/relationships/video" Target="../media/media2.mp4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0590E7D-6ED5-418E-9E15-63228DDF01B8}"/>
              </a:ext>
            </a:extLst>
          </p:cNvPr>
          <p:cNvGrpSpPr/>
          <p:nvPr/>
        </p:nvGrpSpPr>
        <p:grpSpPr>
          <a:xfrm>
            <a:off x="3558904" y="355058"/>
            <a:ext cx="5074186" cy="776007"/>
            <a:chOff x="1367323" y="1990461"/>
            <a:chExt cx="5836031" cy="892552"/>
          </a:xfrm>
        </p:grpSpPr>
        <p:sp>
          <p:nvSpPr>
            <p:cNvPr id="2" name="TextBox 1"/>
            <p:cNvSpPr txBox="1"/>
            <p:nvPr/>
          </p:nvSpPr>
          <p:spPr>
            <a:xfrm>
              <a:off x="4525962" y="2232639"/>
              <a:ext cx="2677392" cy="531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DLaM Display" panose="020F0502020204030204" pitchFamily="2" charset="0"/>
                </a:rPr>
                <a:t>Workshop Talk</a:t>
              </a:r>
            </a:p>
          </p:txBody>
        </p:sp>
        <p:pic>
          <p:nvPicPr>
            <p:cNvPr id="1026" name="Picture 2" descr="BigComp 2026 Logo">
              <a:extLst>
                <a:ext uri="{FF2B5EF4-FFF2-40B4-BE49-F238E27FC236}">
                  <a16:creationId xmlns:a16="http://schemas.microsoft.com/office/drawing/2014/main" id="{C11E5DF3-63A4-53C0-ED0E-FB76E4EDE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7323" y="1990461"/>
              <a:ext cx="3204677" cy="892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0" name="Picture 6" descr="인하대학교 VOICE AI 연구소">
            <a:extLst>
              <a:ext uri="{FF2B5EF4-FFF2-40B4-BE49-F238E27FC236}">
                <a16:creationId xmlns:a16="http://schemas.microsoft.com/office/drawing/2014/main" id="{05C0F154-F4EA-C0DA-1B27-B0796EE47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7759" y="5977651"/>
            <a:ext cx="1957481" cy="67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ha University">
            <a:extLst>
              <a:ext uri="{FF2B5EF4-FFF2-40B4-BE49-F238E27FC236}">
                <a16:creationId xmlns:a16="http://schemas.microsoft.com/office/drawing/2014/main" id="{C3493BC3-9FF3-0DAE-1FA9-FB180200C7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746760" y="5974930"/>
            <a:ext cx="2055934" cy="67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84278AA-B272-D14C-38D7-E87D21661D09}"/>
              </a:ext>
            </a:extLst>
          </p:cNvPr>
          <p:cNvGrpSpPr/>
          <p:nvPr/>
        </p:nvGrpSpPr>
        <p:grpSpPr>
          <a:xfrm>
            <a:off x="746760" y="2169775"/>
            <a:ext cx="10698480" cy="2662601"/>
            <a:chOff x="746760" y="1928421"/>
            <a:chExt cx="10698480" cy="2662601"/>
          </a:xfrm>
        </p:grpSpPr>
        <p:sp>
          <p:nvSpPr>
            <p:cNvPr id="3" name="TextBox 2"/>
            <p:cNvSpPr txBox="1"/>
            <p:nvPr/>
          </p:nvSpPr>
          <p:spPr>
            <a:xfrm>
              <a:off x="746760" y="1928421"/>
              <a:ext cx="10698480" cy="89255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>
              <a:spAutoFit/>
            </a:bodyPr>
            <a:lstStyle/>
            <a:p>
              <a:pPr algn="ctr">
                <a:defRPr sz="2600">
                  <a:latin typeface="Times New Roman"/>
                </a:defRPr>
              </a:pPr>
              <a:r>
                <a:rPr lang="en-US" altLang="ko-KR" sz="2600" b="1" dirty="0"/>
                <a:t>Continuous Sign Language Recognition Baselines &amp; Boundary Diagnostics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879881" y="4283245"/>
              <a:ext cx="443223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400" b="1" dirty="0">
                  <a:latin typeface="Times New Roman"/>
                </a:rPr>
                <a:t>Presenter: [</a:t>
              </a:r>
              <a:r>
                <a:rPr lang="en-US" sz="1400" b="1" dirty="0">
                  <a:latin typeface="Times New Roman"/>
                </a:rPr>
                <a:t>Nirmal Adhikari</a:t>
              </a:r>
              <a:r>
                <a:rPr sz="1400" b="1" dirty="0">
                  <a:latin typeface="Times New Roman"/>
                </a:rPr>
                <a:t>]</a:t>
              </a:r>
              <a:r>
                <a:rPr lang="en-US" sz="1400" b="1" dirty="0">
                  <a:latin typeface="Times New Roman"/>
                </a:rPr>
                <a:t> </a:t>
              </a:r>
              <a:r>
                <a:rPr lang="en-US" sz="1400" dirty="0">
                  <a:latin typeface="Times New Roman"/>
                </a:rPr>
                <a:t>{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/>
                </a:rPr>
                <a:t>adhikareen@gmail.com</a:t>
              </a:r>
              <a:r>
                <a:rPr lang="en-US" sz="1400" dirty="0">
                  <a:latin typeface="Times New Roman"/>
                </a:rPr>
                <a:t>}</a:t>
              </a:r>
              <a:endParaRPr sz="1400" dirty="0">
                <a:latin typeface="Times New Roman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9FA995-CAAC-09A2-F3B2-7F63EFAFD56E}"/>
                </a:ext>
              </a:extLst>
            </p:cNvPr>
            <p:cNvSpPr txBox="1"/>
            <p:nvPr/>
          </p:nvSpPr>
          <p:spPr>
            <a:xfrm>
              <a:off x="4113662" y="3239466"/>
              <a:ext cx="4594848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1400" i="1" dirty="0">
                  <a:latin typeface="Times New Roman"/>
                </a:rPr>
                <a:t>Authors: Nirmal Adhikari, Chingiz Tursunbaev, Wookey Lee*</a:t>
              </a:r>
            </a:p>
            <a:p>
              <a:pPr algn="ctr"/>
              <a:r>
                <a:rPr lang="en-US" altLang="ko-KR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Voice AI Research Center, Inha University, South Korea</a:t>
              </a:r>
              <a:endParaRPr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325014-2953-1358-1953-4D443E20449D}"/>
                </a:ext>
              </a:extLst>
            </p:cNvPr>
            <p:cNvSpPr txBox="1"/>
            <p:nvPr/>
          </p:nvSpPr>
          <p:spPr>
            <a:xfrm>
              <a:off x="746760" y="3007136"/>
              <a:ext cx="106984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600">
                  <a:latin typeface="Times New Roman"/>
                </a:defRPr>
              </a:pPr>
              <a:r>
                <a:rPr lang="en-US" altLang="ko-KR" sz="1400" dirty="0"/>
                <a:t>Based on our </a:t>
              </a:r>
              <a:r>
                <a:rPr lang="en-US" altLang="ko-KR" sz="1400" dirty="0" err="1">
                  <a:solidFill>
                    <a:schemeClr val="tx2"/>
                  </a:solidFill>
                </a:rPr>
                <a:t>BigComp</a:t>
              </a:r>
              <a:r>
                <a:rPr lang="en-US" altLang="ko-KR" sz="1400" dirty="0">
                  <a:solidFill>
                    <a:schemeClr val="tx2"/>
                  </a:solidFill>
                </a:rPr>
                <a:t> 2026 workshop paper</a:t>
              </a:r>
              <a:r>
                <a:rPr lang="en-US" altLang="ko-KR" sz="1400" dirty="0"/>
                <a:t>: </a:t>
              </a:r>
              <a:r>
                <a:rPr lang="en-US" altLang="ko-KR" sz="1400" i="1" dirty="0"/>
                <a:t>Motion Cues for Robust Continuous Sign Language Recognition: Baselines and Diagnostics</a:t>
              </a:r>
              <a:endParaRPr lang="en-US" altLang="ko-KR" sz="2400" i="1" dirty="0">
                <a:latin typeface="Times New Rom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3E308-A75C-D22C-1F5D-5ACC21D4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9E8A825D-3EEC-6AEA-F0AC-5A73B35CC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4663EB-1FF0-E500-E09E-7654D02E250A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C8D49-6DCC-0072-B8BB-324A941E77B9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82DB9B-C0CB-03F7-F333-21EAE32EFA49}"/>
              </a:ext>
            </a:extLst>
          </p:cNvPr>
          <p:cNvSpPr txBox="1"/>
          <p:nvPr/>
        </p:nvSpPr>
        <p:spPr>
          <a:xfrm>
            <a:off x="419386" y="145855"/>
            <a:ext cx="184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60837812-9F9C-56B3-1BC5-759F20C2A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AD339F51-D275-C6A1-A001-00E5B0A80B52}"/>
              </a:ext>
            </a:extLst>
          </p:cNvPr>
          <p:cNvGrpSpPr/>
          <p:nvPr/>
        </p:nvGrpSpPr>
        <p:grpSpPr>
          <a:xfrm>
            <a:off x="1872973" y="2382584"/>
            <a:ext cx="8446054" cy="2092832"/>
            <a:chOff x="2651760" y="3429000"/>
            <a:chExt cx="8138160" cy="1828800"/>
          </a:xfrm>
        </p:grpSpPr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81CECAE3-F4B6-A118-C239-EA5226874EFF}"/>
                </a:ext>
              </a:extLst>
            </p:cNvPr>
            <p:cNvSpPr/>
            <p:nvPr/>
          </p:nvSpPr>
          <p:spPr>
            <a:xfrm>
              <a:off x="2651760" y="3429000"/>
              <a:ext cx="2560320" cy="594360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">
              <a:extLst>
                <a:ext uri="{FF2B5EF4-FFF2-40B4-BE49-F238E27FC236}">
                  <a16:creationId xmlns:a16="http://schemas.microsoft.com/office/drawing/2014/main" id="{C1769310-DCE3-7AAA-F283-F91DCFCE1860}"/>
                </a:ext>
              </a:extLst>
            </p:cNvPr>
            <p:cNvSpPr/>
            <p:nvPr/>
          </p:nvSpPr>
          <p:spPr>
            <a:xfrm>
              <a:off x="2743200" y="3538728"/>
              <a:ext cx="365760" cy="365760"/>
            </a:xfrm>
            <a:prstGeom prst="ellipse">
              <a:avLst/>
            </a:prstGeom>
            <a:solidFill>
              <a:srgbClr val="1E5C99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8A5C4BCD-0784-F9F7-12A8-1B1C5BC2AA2E}"/>
                </a:ext>
              </a:extLst>
            </p:cNvPr>
            <p:cNvSpPr/>
            <p:nvPr/>
          </p:nvSpPr>
          <p:spPr>
            <a:xfrm>
              <a:off x="2743200" y="353872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45" name="Text 6">
              <a:extLst>
                <a:ext uri="{FF2B5EF4-FFF2-40B4-BE49-F238E27FC236}">
                  <a16:creationId xmlns:a16="http://schemas.microsoft.com/office/drawing/2014/main" id="{3EC8DC6D-5688-9B6B-4CF2-CC854408422B}"/>
                </a:ext>
              </a:extLst>
            </p:cNvPr>
            <p:cNvSpPr/>
            <p:nvPr/>
          </p:nvSpPr>
          <p:spPr>
            <a:xfrm>
              <a:off x="3154680" y="3502152"/>
              <a:ext cx="196596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CSLR Frameworks &amp; Baselines</a:t>
              </a:r>
              <a:endParaRPr lang="en-US" sz="1400" dirty="0"/>
            </a:p>
          </p:txBody>
        </p:sp>
        <p:sp>
          <p:nvSpPr>
            <p:cNvPr id="46" name="Shape 7">
              <a:extLst>
                <a:ext uri="{FF2B5EF4-FFF2-40B4-BE49-F238E27FC236}">
                  <a16:creationId xmlns:a16="http://schemas.microsoft.com/office/drawing/2014/main" id="{9380860A-3283-653F-5BE9-28C7AFBD4DD2}"/>
                </a:ext>
              </a:extLst>
            </p:cNvPr>
            <p:cNvSpPr/>
            <p:nvPr/>
          </p:nvSpPr>
          <p:spPr>
            <a:xfrm>
              <a:off x="5212080" y="3726180"/>
              <a:ext cx="228600" cy="0"/>
            </a:xfrm>
            <a:prstGeom prst="line">
              <a:avLst/>
            </a:prstGeom>
            <a:noFill/>
            <a:ln w="1905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8">
              <a:extLst>
                <a:ext uri="{FF2B5EF4-FFF2-40B4-BE49-F238E27FC236}">
                  <a16:creationId xmlns:a16="http://schemas.microsoft.com/office/drawing/2014/main" id="{AEF624DE-2D9A-1EA6-F1BF-16D107E2AF21}"/>
                </a:ext>
              </a:extLst>
            </p:cNvPr>
            <p:cNvSpPr/>
            <p:nvPr/>
          </p:nvSpPr>
          <p:spPr>
            <a:xfrm>
              <a:off x="5440680" y="3429000"/>
              <a:ext cx="2560320" cy="594360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9">
              <a:extLst>
                <a:ext uri="{FF2B5EF4-FFF2-40B4-BE49-F238E27FC236}">
                  <a16:creationId xmlns:a16="http://schemas.microsoft.com/office/drawing/2014/main" id="{DAA48AC1-D3D9-AC05-93FD-01AF41504501}"/>
                </a:ext>
              </a:extLst>
            </p:cNvPr>
            <p:cNvSpPr/>
            <p:nvPr/>
          </p:nvSpPr>
          <p:spPr>
            <a:xfrm>
              <a:off x="5532120" y="3538728"/>
              <a:ext cx="365760" cy="365760"/>
            </a:xfrm>
            <a:prstGeom prst="ellipse">
              <a:avLst/>
            </a:prstGeom>
            <a:solidFill>
              <a:srgbClr val="1E5C99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B88B6223-FFE0-2FA9-CEA3-989E222696BF}"/>
                </a:ext>
              </a:extLst>
            </p:cNvPr>
            <p:cNvSpPr/>
            <p:nvPr/>
          </p:nvSpPr>
          <p:spPr>
            <a:xfrm>
              <a:off x="5532120" y="353872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50" name="Text 11">
              <a:extLst>
                <a:ext uri="{FF2B5EF4-FFF2-40B4-BE49-F238E27FC236}">
                  <a16:creationId xmlns:a16="http://schemas.microsoft.com/office/drawing/2014/main" id="{44929608-8A66-ACCA-D423-E2A4D2656C3E}"/>
                </a:ext>
              </a:extLst>
            </p:cNvPr>
            <p:cNvSpPr/>
            <p:nvPr/>
          </p:nvSpPr>
          <p:spPr>
            <a:xfrm>
              <a:off x="5943600" y="3502152"/>
              <a:ext cx="196596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Observations &amp; Motivation</a:t>
              </a:r>
              <a:endParaRPr lang="en-US" sz="1400" dirty="0"/>
            </a:p>
          </p:txBody>
        </p:sp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5816F1B0-7D11-6E18-C589-FC66FF2767C6}"/>
                </a:ext>
              </a:extLst>
            </p:cNvPr>
            <p:cNvSpPr/>
            <p:nvPr/>
          </p:nvSpPr>
          <p:spPr>
            <a:xfrm>
              <a:off x="8001000" y="3726180"/>
              <a:ext cx="228600" cy="0"/>
            </a:xfrm>
            <a:prstGeom prst="line">
              <a:avLst/>
            </a:prstGeom>
            <a:noFill/>
            <a:ln w="1905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3">
              <a:extLst>
                <a:ext uri="{FF2B5EF4-FFF2-40B4-BE49-F238E27FC236}">
                  <a16:creationId xmlns:a16="http://schemas.microsoft.com/office/drawing/2014/main" id="{51658FE5-BE30-0E24-BD4F-D270CF85BCA0}"/>
                </a:ext>
              </a:extLst>
            </p:cNvPr>
            <p:cNvSpPr/>
            <p:nvPr/>
          </p:nvSpPr>
          <p:spPr>
            <a:xfrm>
              <a:off x="8229600" y="3429000"/>
              <a:ext cx="2560320" cy="594360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14">
              <a:extLst>
                <a:ext uri="{FF2B5EF4-FFF2-40B4-BE49-F238E27FC236}">
                  <a16:creationId xmlns:a16="http://schemas.microsoft.com/office/drawing/2014/main" id="{6D011EF5-05DA-2E80-BEB6-EDBCB964DBF9}"/>
                </a:ext>
              </a:extLst>
            </p:cNvPr>
            <p:cNvSpPr/>
            <p:nvPr/>
          </p:nvSpPr>
          <p:spPr>
            <a:xfrm>
              <a:off x="8321040" y="3538728"/>
              <a:ext cx="365760" cy="365760"/>
            </a:xfrm>
            <a:prstGeom prst="ellipse">
              <a:avLst/>
            </a:prstGeom>
            <a:solidFill>
              <a:srgbClr val="1E5C99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5">
              <a:extLst>
                <a:ext uri="{FF2B5EF4-FFF2-40B4-BE49-F238E27FC236}">
                  <a16:creationId xmlns:a16="http://schemas.microsoft.com/office/drawing/2014/main" id="{2B4E1659-EDAD-91CC-F11F-8B25389BA8F2}"/>
                </a:ext>
              </a:extLst>
            </p:cNvPr>
            <p:cNvSpPr/>
            <p:nvPr/>
          </p:nvSpPr>
          <p:spPr>
            <a:xfrm>
              <a:off x="8321040" y="353872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</a:t>
              </a:r>
              <a:endParaRPr lang="en-US" sz="1200" dirty="0"/>
            </a:p>
          </p:txBody>
        </p:sp>
        <p:sp>
          <p:nvSpPr>
            <p:cNvPr id="55" name="Text 16">
              <a:extLst>
                <a:ext uri="{FF2B5EF4-FFF2-40B4-BE49-F238E27FC236}">
                  <a16:creationId xmlns:a16="http://schemas.microsoft.com/office/drawing/2014/main" id="{B46B2F05-8D84-669A-2D85-85407B57C527}"/>
                </a:ext>
              </a:extLst>
            </p:cNvPr>
            <p:cNvSpPr/>
            <p:nvPr/>
          </p:nvSpPr>
          <p:spPr>
            <a:xfrm>
              <a:off x="8732520" y="3502152"/>
              <a:ext cx="196596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Motion-Guided Approach</a:t>
              </a:r>
              <a:endParaRPr lang="en-US" sz="1400" dirty="0"/>
            </a:p>
          </p:txBody>
        </p:sp>
        <p:sp>
          <p:nvSpPr>
            <p:cNvPr id="56" name="Shape 17">
              <a:extLst>
                <a:ext uri="{FF2B5EF4-FFF2-40B4-BE49-F238E27FC236}">
                  <a16:creationId xmlns:a16="http://schemas.microsoft.com/office/drawing/2014/main" id="{FEB317F2-E5D1-511D-2350-FC385B33690C}"/>
                </a:ext>
              </a:extLst>
            </p:cNvPr>
            <p:cNvSpPr/>
            <p:nvPr/>
          </p:nvSpPr>
          <p:spPr>
            <a:xfrm>
              <a:off x="2651760" y="4663440"/>
              <a:ext cx="2560320" cy="594360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18">
              <a:extLst>
                <a:ext uri="{FF2B5EF4-FFF2-40B4-BE49-F238E27FC236}">
                  <a16:creationId xmlns:a16="http://schemas.microsoft.com/office/drawing/2014/main" id="{BFD1F9C9-A620-896F-DDC4-3B52E4E2395B}"/>
                </a:ext>
              </a:extLst>
            </p:cNvPr>
            <p:cNvSpPr/>
            <p:nvPr/>
          </p:nvSpPr>
          <p:spPr>
            <a:xfrm>
              <a:off x="2743200" y="4773168"/>
              <a:ext cx="365760" cy="365760"/>
            </a:xfrm>
            <a:prstGeom prst="ellipse">
              <a:avLst/>
            </a:prstGeom>
            <a:solidFill>
              <a:srgbClr val="1E5C99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19">
              <a:extLst>
                <a:ext uri="{FF2B5EF4-FFF2-40B4-BE49-F238E27FC236}">
                  <a16:creationId xmlns:a16="http://schemas.microsoft.com/office/drawing/2014/main" id="{A806B9EA-468D-F9A1-B93D-5E848C77B7E6}"/>
                </a:ext>
              </a:extLst>
            </p:cNvPr>
            <p:cNvSpPr/>
            <p:nvPr/>
          </p:nvSpPr>
          <p:spPr>
            <a:xfrm>
              <a:off x="2743200" y="477316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4</a:t>
              </a:r>
              <a:endParaRPr lang="en-US" sz="1200" dirty="0"/>
            </a:p>
          </p:txBody>
        </p:sp>
        <p:sp>
          <p:nvSpPr>
            <p:cNvPr id="59" name="Text 20">
              <a:extLst>
                <a:ext uri="{FF2B5EF4-FFF2-40B4-BE49-F238E27FC236}">
                  <a16:creationId xmlns:a16="http://schemas.microsoft.com/office/drawing/2014/main" id="{9E25ADA8-D58B-E3BE-FFF5-78935DD35277}"/>
                </a:ext>
              </a:extLst>
            </p:cNvPr>
            <p:cNvSpPr/>
            <p:nvPr/>
          </p:nvSpPr>
          <p:spPr>
            <a:xfrm>
              <a:off x="3154680" y="4736592"/>
              <a:ext cx="196596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Results &amp; Analysis</a:t>
              </a:r>
              <a:endParaRPr lang="en-US" sz="1400" dirty="0"/>
            </a:p>
          </p:txBody>
        </p:sp>
        <p:sp>
          <p:nvSpPr>
            <p:cNvPr id="60" name="Shape 21">
              <a:extLst>
                <a:ext uri="{FF2B5EF4-FFF2-40B4-BE49-F238E27FC236}">
                  <a16:creationId xmlns:a16="http://schemas.microsoft.com/office/drawing/2014/main" id="{1CAAE407-C8A6-0B85-8764-2AD84FA0CC03}"/>
                </a:ext>
              </a:extLst>
            </p:cNvPr>
            <p:cNvSpPr/>
            <p:nvPr/>
          </p:nvSpPr>
          <p:spPr>
            <a:xfrm>
              <a:off x="5212080" y="4960620"/>
              <a:ext cx="228600" cy="0"/>
            </a:xfrm>
            <a:prstGeom prst="line">
              <a:avLst/>
            </a:prstGeom>
            <a:noFill/>
            <a:ln w="1905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22">
              <a:extLst>
                <a:ext uri="{FF2B5EF4-FFF2-40B4-BE49-F238E27FC236}">
                  <a16:creationId xmlns:a16="http://schemas.microsoft.com/office/drawing/2014/main" id="{42A9B6F5-D50B-6EEA-59DD-DC6C0A14B761}"/>
                </a:ext>
              </a:extLst>
            </p:cNvPr>
            <p:cNvSpPr/>
            <p:nvPr/>
          </p:nvSpPr>
          <p:spPr>
            <a:xfrm>
              <a:off x="5440680" y="4663440"/>
              <a:ext cx="2560320" cy="594360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3">
              <a:extLst>
                <a:ext uri="{FF2B5EF4-FFF2-40B4-BE49-F238E27FC236}">
                  <a16:creationId xmlns:a16="http://schemas.microsoft.com/office/drawing/2014/main" id="{40AFF69C-EB34-26E9-45D7-F0ABC4A92E80}"/>
                </a:ext>
              </a:extLst>
            </p:cNvPr>
            <p:cNvSpPr/>
            <p:nvPr/>
          </p:nvSpPr>
          <p:spPr>
            <a:xfrm>
              <a:off x="5532120" y="4773168"/>
              <a:ext cx="365760" cy="365760"/>
            </a:xfrm>
            <a:prstGeom prst="ellipse">
              <a:avLst/>
            </a:prstGeom>
            <a:solidFill>
              <a:srgbClr val="1E5C99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4">
              <a:extLst>
                <a:ext uri="{FF2B5EF4-FFF2-40B4-BE49-F238E27FC236}">
                  <a16:creationId xmlns:a16="http://schemas.microsoft.com/office/drawing/2014/main" id="{42BB8D07-A78C-C5CB-5738-FAE146C8E661}"/>
                </a:ext>
              </a:extLst>
            </p:cNvPr>
            <p:cNvSpPr/>
            <p:nvPr/>
          </p:nvSpPr>
          <p:spPr>
            <a:xfrm>
              <a:off x="5532120" y="477316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5</a:t>
              </a:r>
              <a:endParaRPr lang="en-US" sz="1200" dirty="0"/>
            </a:p>
          </p:txBody>
        </p:sp>
        <p:sp>
          <p:nvSpPr>
            <p:cNvPr id="64" name="Text 25">
              <a:extLst>
                <a:ext uri="{FF2B5EF4-FFF2-40B4-BE49-F238E27FC236}">
                  <a16:creationId xmlns:a16="http://schemas.microsoft.com/office/drawing/2014/main" id="{4CA4DB03-1CB0-3B56-B720-90CA0CA70145}"/>
                </a:ext>
              </a:extLst>
            </p:cNvPr>
            <p:cNvSpPr/>
            <p:nvPr/>
          </p:nvSpPr>
          <p:spPr>
            <a:xfrm>
              <a:off x="5943600" y="4736592"/>
              <a:ext cx="196596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Limitations and Future Work</a:t>
              </a:r>
              <a:endParaRPr lang="en-US" sz="1400" dirty="0"/>
            </a:p>
          </p:txBody>
        </p:sp>
        <p:sp>
          <p:nvSpPr>
            <p:cNvPr id="65" name="Shape 26">
              <a:extLst>
                <a:ext uri="{FF2B5EF4-FFF2-40B4-BE49-F238E27FC236}">
                  <a16:creationId xmlns:a16="http://schemas.microsoft.com/office/drawing/2014/main" id="{E7357FAB-DBD7-A87D-190B-353683282782}"/>
                </a:ext>
              </a:extLst>
            </p:cNvPr>
            <p:cNvSpPr/>
            <p:nvPr/>
          </p:nvSpPr>
          <p:spPr>
            <a:xfrm>
              <a:off x="8001000" y="4960620"/>
              <a:ext cx="228600" cy="0"/>
            </a:xfrm>
            <a:prstGeom prst="line">
              <a:avLst/>
            </a:prstGeom>
            <a:noFill/>
            <a:ln w="1905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27">
              <a:extLst>
                <a:ext uri="{FF2B5EF4-FFF2-40B4-BE49-F238E27FC236}">
                  <a16:creationId xmlns:a16="http://schemas.microsoft.com/office/drawing/2014/main" id="{1A48F730-C512-2AEE-81BA-BDF291465736}"/>
                </a:ext>
              </a:extLst>
            </p:cNvPr>
            <p:cNvSpPr/>
            <p:nvPr/>
          </p:nvSpPr>
          <p:spPr>
            <a:xfrm>
              <a:off x="8229600" y="4663440"/>
              <a:ext cx="2560320" cy="594360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Shape 28">
              <a:extLst>
                <a:ext uri="{FF2B5EF4-FFF2-40B4-BE49-F238E27FC236}">
                  <a16:creationId xmlns:a16="http://schemas.microsoft.com/office/drawing/2014/main" id="{5FB19784-9314-DF93-8212-0F9A2291D42A}"/>
                </a:ext>
              </a:extLst>
            </p:cNvPr>
            <p:cNvSpPr/>
            <p:nvPr/>
          </p:nvSpPr>
          <p:spPr>
            <a:xfrm>
              <a:off x="8321040" y="4773168"/>
              <a:ext cx="365760" cy="365760"/>
            </a:xfrm>
            <a:prstGeom prst="ellipse">
              <a:avLst/>
            </a:prstGeom>
            <a:solidFill>
              <a:srgbClr val="1E5C99"/>
            </a:solidFill>
            <a:ln w="1270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29">
              <a:extLst>
                <a:ext uri="{FF2B5EF4-FFF2-40B4-BE49-F238E27FC236}">
                  <a16:creationId xmlns:a16="http://schemas.microsoft.com/office/drawing/2014/main" id="{3BCAE7AE-FE9F-BD0E-9FAF-209628473267}"/>
                </a:ext>
              </a:extLst>
            </p:cNvPr>
            <p:cNvSpPr/>
            <p:nvPr/>
          </p:nvSpPr>
          <p:spPr>
            <a:xfrm>
              <a:off x="8321040" y="477316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6</a:t>
              </a:r>
              <a:endParaRPr lang="en-US" sz="1200" dirty="0"/>
            </a:p>
          </p:txBody>
        </p:sp>
        <p:sp>
          <p:nvSpPr>
            <p:cNvPr id="69" name="Text 30">
              <a:extLst>
                <a:ext uri="{FF2B5EF4-FFF2-40B4-BE49-F238E27FC236}">
                  <a16:creationId xmlns:a16="http://schemas.microsoft.com/office/drawing/2014/main" id="{0222FAFA-BEB8-96A0-0745-2254306915C0}"/>
                </a:ext>
              </a:extLst>
            </p:cNvPr>
            <p:cNvSpPr/>
            <p:nvPr/>
          </p:nvSpPr>
          <p:spPr>
            <a:xfrm>
              <a:off x="8732520" y="4736592"/>
              <a:ext cx="196596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Conclusion</a:t>
              </a:r>
              <a:endParaRPr lang="en-US" sz="1400" dirty="0"/>
            </a:p>
          </p:txBody>
        </p:sp>
        <p:sp>
          <p:nvSpPr>
            <p:cNvPr id="70" name="Shape 31">
              <a:extLst>
                <a:ext uri="{FF2B5EF4-FFF2-40B4-BE49-F238E27FC236}">
                  <a16:creationId xmlns:a16="http://schemas.microsoft.com/office/drawing/2014/main" id="{174395C8-F73F-B439-E354-A69D1023CB18}"/>
                </a:ext>
              </a:extLst>
            </p:cNvPr>
            <p:cNvSpPr/>
            <p:nvPr/>
          </p:nvSpPr>
          <p:spPr>
            <a:xfrm>
              <a:off x="5212080" y="4960620"/>
              <a:ext cx="228600" cy="0"/>
            </a:xfrm>
            <a:prstGeom prst="line">
              <a:avLst/>
            </a:prstGeom>
            <a:noFill/>
            <a:ln w="1905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32">
              <a:extLst>
                <a:ext uri="{FF2B5EF4-FFF2-40B4-BE49-F238E27FC236}">
                  <a16:creationId xmlns:a16="http://schemas.microsoft.com/office/drawing/2014/main" id="{77A0A1D2-7581-6F88-4704-D4250BE6AA6F}"/>
                </a:ext>
              </a:extLst>
            </p:cNvPr>
            <p:cNvSpPr/>
            <p:nvPr/>
          </p:nvSpPr>
          <p:spPr>
            <a:xfrm>
              <a:off x="8001000" y="4960620"/>
              <a:ext cx="228600" cy="0"/>
            </a:xfrm>
            <a:prstGeom prst="line">
              <a:avLst/>
            </a:prstGeom>
            <a:noFill/>
            <a:ln w="1905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33">
              <a:extLst>
                <a:ext uri="{FF2B5EF4-FFF2-40B4-BE49-F238E27FC236}">
                  <a16:creationId xmlns:a16="http://schemas.microsoft.com/office/drawing/2014/main" id="{B9185E3C-BA46-C486-F0D0-EB1240CCC553}"/>
                </a:ext>
              </a:extLst>
            </p:cNvPr>
            <p:cNvSpPr/>
            <p:nvPr/>
          </p:nvSpPr>
          <p:spPr>
            <a:xfrm>
              <a:off x="9509760" y="4023360"/>
              <a:ext cx="0" cy="320040"/>
            </a:xfrm>
            <a:prstGeom prst="line">
              <a:avLst/>
            </a:prstGeom>
            <a:noFill/>
            <a:ln w="1905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4">
              <a:extLst>
                <a:ext uri="{FF2B5EF4-FFF2-40B4-BE49-F238E27FC236}">
                  <a16:creationId xmlns:a16="http://schemas.microsoft.com/office/drawing/2014/main" id="{85658844-8AB3-EA0D-9754-55F89ECC1359}"/>
                </a:ext>
              </a:extLst>
            </p:cNvPr>
            <p:cNvSpPr/>
            <p:nvPr/>
          </p:nvSpPr>
          <p:spPr>
            <a:xfrm>
              <a:off x="3931920" y="4343400"/>
              <a:ext cx="5577840" cy="0"/>
            </a:xfrm>
            <a:prstGeom prst="line">
              <a:avLst/>
            </a:prstGeom>
            <a:noFill/>
            <a:ln w="1905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35">
              <a:extLst>
                <a:ext uri="{FF2B5EF4-FFF2-40B4-BE49-F238E27FC236}">
                  <a16:creationId xmlns:a16="http://schemas.microsoft.com/office/drawing/2014/main" id="{8ABA1EDD-1CDB-18D1-BAEB-BB2848544BA4}"/>
                </a:ext>
              </a:extLst>
            </p:cNvPr>
            <p:cNvSpPr/>
            <p:nvPr/>
          </p:nvSpPr>
          <p:spPr>
            <a:xfrm>
              <a:off x="3931920" y="4343400"/>
              <a:ext cx="0" cy="320040"/>
            </a:xfrm>
            <a:prstGeom prst="line">
              <a:avLst/>
            </a:prstGeom>
            <a:noFill/>
            <a:ln w="19050">
              <a:solidFill>
                <a:srgbClr val="1E5C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620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A0AD9-05F2-1473-C8D2-C4D2C74C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18F825D4-9CD9-2CBF-8E48-EEC40BE73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636796-B348-2203-A6AD-CE3CF8A48C7E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E65DFD-A3B5-C6C2-8BAF-B98DAAFE9351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DA1230-254D-0AD2-35EA-CE30997EBD48}"/>
              </a:ext>
            </a:extLst>
          </p:cNvPr>
          <p:cNvSpPr txBox="1"/>
          <p:nvPr/>
        </p:nvSpPr>
        <p:spPr>
          <a:xfrm>
            <a:off x="419386" y="145855"/>
            <a:ext cx="55482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CSLR pipeline (CTC-based)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37F17629-DA52-2FE3-ABAA-8B959D8305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09981-A767-3376-2CF6-AA9F7993D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153" y="912191"/>
            <a:ext cx="3444846" cy="50336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E41EB4-DBEF-37F8-BB0E-44340BCF7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327" y="962874"/>
            <a:ext cx="419858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sign video frames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encoder: ResNet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TCN</a:t>
            </a:r>
            <a:r>
              <a:rPr lang="ko-KR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(per-frame features)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module (e.g., BiLSTM)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CTC loss (weak supervision; no boundary labels)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greedy / beam → WER + del/ins/sub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6A480-E1D3-2C68-C062-EAC86E51D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327" y="2789647"/>
            <a:ext cx="459849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representative backbones: ResNet-34 and ResNet-18 baselines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 Method: Beam Search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 (KD) use from the BiLSTM CTC logits to TCN CTC logits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RWTH-PHOENIX-Weather 2014</a:t>
            </a:r>
            <a:r>
              <a:rPr lang="en-US" altLang="ko-KR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(CSLR, German Sign Language) and CSL-Daily</a:t>
            </a:r>
            <a:r>
              <a:rPr lang="en-US" altLang="ko-KR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Error Rate (WER) with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deletion/insertion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breakdown reporting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Other/SOTA scores </a:t>
            </a:r>
            <a:endParaRPr lang="ko-KR" altLang="ko-K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83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48CD-4F32-6D79-C7D1-A3731491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FA29FA33-CD58-B051-2BD2-D3271D96D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50D265-6D48-17FB-0304-9D637C7DA580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2723C2-AC02-6251-944E-892E493C3087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72E05E6-B34D-714F-86AD-B896AAFF8450}"/>
              </a:ext>
            </a:extLst>
          </p:cNvPr>
          <p:cNvSpPr txBox="1"/>
          <p:nvPr/>
        </p:nvSpPr>
        <p:spPr>
          <a:xfrm>
            <a:off x="419385" y="145855"/>
            <a:ext cx="7040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Experiments</a:t>
            </a: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51369744-9B8A-FC13-C797-29F6BD450F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6D3A2D8-BB4B-0AB4-6A3D-87CE6356B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2529" y="1013669"/>
                <a:ext cx="3293498" cy="690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𝑾𝑬𝑹</m:t>
                      </m:r>
                      <m:r>
                        <a:rPr lang="en-US" altLang="ko-KR" sz="1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#</m:t>
                          </m:r>
                          <m:r>
                            <a:rPr lang="en-US" altLang="ko-KR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𝒅𝒆𝒍</m:t>
                          </m:r>
                          <m:r>
                            <a:rPr lang="en-US" altLang="ko-KR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+#</m:t>
                          </m:r>
                          <m:r>
                            <a:rPr lang="en-US" altLang="ko-KR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𝒊𝒏𝒔</m:t>
                          </m:r>
                          <m:r>
                            <a:rPr lang="en-US" altLang="ko-KR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+#</m:t>
                          </m:r>
                          <m:r>
                            <a:rPr lang="en-US" altLang="ko-KR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𝒔𝒖𝒃</m:t>
                          </m:r>
                        </m:num>
                        <m:den>
                          <m:r>
                            <a:rPr lang="en-US" altLang="ko-KR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𝒓𝒆𝒇</m:t>
                          </m:r>
                        </m:den>
                      </m:f>
                      <m:r>
                        <a:rPr lang="en-US" altLang="ko-KR" sz="1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ko-KR" sz="1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US" altLang="ko-KR" sz="1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%</m:t>
                      </m:r>
                    </m:oMath>
                  </m:oMathPara>
                </a14:m>
                <a:endPara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6D3A2D8-BB4B-0AB4-6A3D-87CE6356B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2529" y="1013669"/>
                <a:ext cx="3293498" cy="6908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8F9EC3-AD4F-F312-14B5-F3398FE0D0A6}"/>
                  </a:ext>
                </a:extLst>
              </p:cNvPr>
              <p:cNvSpPr txBox="1"/>
              <p:nvPr/>
            </p:nvSpPr>
            <p:spPr>
              <a:xfrm>
                <a:off x="586476" y="5862704"/>
                <a:ext cx="359457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ref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Glosses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count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in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grount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truth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GT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8F9EC3-AD4F-F312-14B5-F3398FE0D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76" y="5862704"/>
                <a:ext cx="3594578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FEC3F68B-2752-C99E-141D-73182F8F776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0327" y="1553983"/>
            <a:ext cx="5843909" cy="4020567"/>
            <a:chOff x="419386" y="785608"/>
            <a:chExt cx="5843909" cy="402056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FACE9D-27A3-1F70-2AB1-2967463949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90111" y="4282955"/>
              <a:ext cx="426381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400" b="1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B1*: B1 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without beam search</a:t>
              </a:r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but </a:t>
              </a:r>
              <a:r>
                <a:rPr lang="en-US" altLang="ko-KR" sz="1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greedy decoding</a:t>
              </a:r>
              <a:endParaRPr lang="ko-KR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Table 2">
              <a:extLst>
                <a:ext uri="{FF2B5EF4-FFF2-40B4-BE49-F238E27FC236}">
                  <a16:creationId xmlns:a16="http://schemas.microsoft.com/office/drawing/2014/main" id="{61005526-469D-5DA1-BA1C-5B1ABB022E9D}"/>
                </a:ext>
              </a:extLst>
            </p:cNvPr>
            <p:cNvGraphicFramePr>
              <a:graphicFrameLocks noGrp="1" noDrilldown="1" noMove="1" noResize="1"/>
            </p:cNvGraphicFramePr>
            <p:nvPr>
              <p:extLst>
                <p:ext uri="{D42A27DB-BD31-4B8C-83A1-F6EECF244321}">
                  <p14:modId xmlns:p14="http://schemas.microsoft.com/office/powerpoint/2010/main" val="3836266183"/>
                </p:ext>
              </p:extLst>
            </p:nvPr>
          </p:nvGraphicFramePr>
          <p:xfrm>
            <a:off x="621528" y="3976760"/>
            <a:ext cx="5439625" cy="370840"/>
          </p:xfrm>
          <a:graphic>
            <a:graphicData uri="http://schemas.openxmlformats.org/drawingml/2006/table">
              <a:tbl>
                <a:tblPr firstRow="1" bandRow="1">
                  <a:tableStyleId>{9D7B26C5-4107-4FEC-AEDC-1716B250A1EF}</a:tableStyleId>
                </a:tblPr>
                <a:tblGrid>
                  <a:gridCol w="1045043">
                    <a:extLst>
                      <a:ext uri="{9D8B030D-6E8A-4147-A177-3AD203B41FA5}">
                        <a16:colId xmlns:a16="http://schemas.microsoft.com/office/drawing/2014/main" val="412301751"/>
                      </a:ext>
                    </a:extLst>
                  </a:gridCol>
                  <a:gridCol w="1022888">
                    <a:extLst>
                      <a:ext uri="{9D8B030D-6E8A-4147-A177-3AD203B41FA5}">
                        <a16:colId xmlns:a16="http://schemas.microsoft.com/office/drawing/2014/main" val="870917475"/>
                      </a:ext>
                    </a:extLst>
                  </a:gridCol>
                  <a:gridCol w="859849">
                    <a:extLst>
                      <a:ext uri="{9D8B030D-6E8A-4147-A177-3AD203B41FA5}">
                        <a16:colId xmlns:a16="http://schemas.microsoft.com/office/drawing/2014/main" val="2818601460"/>
                      </a:ext>
                    </a:extLst>
                  </a:gridCol>
                  <a:gridCol w="949245">
                    <a:extLst>
                      <a:ext uri="{9D8B030D-6E8A-4147-A177-3AD203B41FA5}">
                        <a16:colId xmlns:a16="http://schemas.microsoft.com/office/drawing/2014/main" val="3573548523"/>
                      </a:ext>
                    </a:extLst>
                  </a:gridCol>
                  <a:gridCol w="717609">
                    <a:extLst>
                      <a:ext uri="{9D8B030D-6E8A-4147-A177-3AD203B41FA5}">
                        <a16:colId xmlns:a16="http://schemas.microsoft.com/office/drawing/2014/main" val="3485396219"/>
                      </a:ext>
                    </a:extLst>
                  </a:gridCol>
                  <a:gridCol w="844991">
                    <a:extLst>
                      <a:ext uri="{9D8B030D-6E8A-4147-A177-3AD203B41FA5}">
                        <a16:colId xmlns:a16="http://schemas.microsoft.com/office/drawing/2014/main" val="2904694758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r>
                          <a:rPr lang="en-US" sz="12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B1*</a:t>
                        </a:r>
                      </a:p>
                    </a:txBody>
                    <a:tcPr marL="90535" marR="90535"/>
                  </a:tc>
                  <a:tc>
                    <a:txBody>
                      <a:bodyPr/>
                      <a:lstStyle/>
                      <a:p>
                        <a:r>
                          <a:rPr lang="en-US" sz="12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 ResNet-18</a:t>
                        </a:r>
                      </a:p>
                    </a:txBody>
                    <a:tcPr marL="90535" marR="90535"/>
                  </a:tc>
                  <a:tc>
                    <a:txBody>
                      <a:bodyPr/>
                      <a:lstStyle/>
                      <a:p>
                        <a:r>
                          <a:rPr lang="en-US" sz="12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 19.3</a:t>
                        </a:r>
                      </a:p>
                    </a:txBody>
                    <a:tcPr marL="90535" marR="90535"/>
                  </a:tc>
                  <a:tc>
                    <a:txBody>
                      <a:bodyPr/>
                      <a:lstStyle/>
                      <a:p>
                        <a:r>
                          <a:rPr lang="en-US" sz="12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7.0/2.4</a:t>
                        </a:r>
                      </a:p>
                    </a:txBody>
                    <a:tcPr marL="90535" marR="90535"/>
                  </a:tc>
                  <a:tc>
                    <a:txBody>
                      <a:bodyPr/>
                      <a:lstStyle/>
                      <a:p>
                        <a:r>
                          <a:rPr lang="en-US" sz="12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20.6</a:t>
                        </a:r>
                      </a:p>
                    </a:txBody>
                    <a:tcPr marL="90535" marR="90535"/>
                  </a:tc>
                  <a:tc>
                    <a:txBody>
                      <a:bodyPr/>
                      <a:lstStyle/>
                      <a:p>
                        <a:r>
                          <a:rPr lang="en-US" sz="12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   6.9/2.5</a:t>
                        </a:r>
                      </a:p>
                    </a:txBody>
                    <a:tcPr marL="90535" marR="90535"/>
                  </a:tc>
                  <a:extLst>
                    <a:ext uri="{0D108BD9-81ED-4DB2-BD59-A6C34878D82A}">
                      <a16:rowId xmlns:a16="http://schemas.microsoft.com/office/drawing/2014/main" val="1471162605"/>
                    </a:ext>
                  </a:extLst>
                </a:tr>
              </a:tbl>
            </a:graphicData>
          </a:graphic>
        </p:graphicFrame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916FF59-692D-8B18-2C55-8DC2022CF0C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9386" y="785608"/>
              <a:ext cx="5843909" cy="3185658"/>
              <a:chOff x="419386" y="785608"/>
              <a:chExt cx="5843909" cy="318565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78D9585A-6FDB-6389-F51C-251359AF46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rcRect b="-754"/>
              <a:stretch>
                <a:fillRect/>
              </a:stretch>
            </p:blipFill>
            <p:spPr>
              <a:xfrm>
                <a:off x="419386" y="785608"/>
                <a:ext cx="5843909" cy="2995866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319B51-91ED-248D-884F-141DE92D96C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26539" y="3663489"/>
                <a:ext cx="102960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Ablation:</a:t>
                </a:r>
              </a:p>
            </p:txBody>
          </p:sp>
        </p:grp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D0CF8879-A097-B399-C731-78989CCB36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103" y="769917"/>
            <a:ext cx="2735516" cy="273551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4270CE9-FA12-0C2E-75DE-16AA2CA096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1103" y="3399061"/>
            <a:ext cx="2735516" cy="273551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9EA9F7F-2D99-EEC6-E424-013FA59E77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42083" y="3202633"/>
            <a:ext cx="394414" cy="21777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EB607D-A295-CAD9-AE51-2DBB3D3C8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91690" y="3540806"/>
            <a:ext cx="394414" cy="21777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BB033A-7F79-10F0-24A4-E5AF8A6A85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39290" y="3859060"/>
            <a:ext cx="394414" cy="21777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EF79FB-5F5E-CECC-08A5-1BDDDCC79C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94483" y="4176945"/>
            <a:ext cx="394414" cy="21777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</a:p>
        </p:txBody>
      </p:sp>
    </p:spTree>
    <p:extLst>
      <p:ext uri="{BB962C8B-B14F-4D97-AF65-F5344CB8AC3E}">
        <p14:creationId xmlns:p14="http://schemas.microsoft.com/office/powerpoint/2010/main" val="2954590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4B0DCD0A-2873-4440-B8AB-66FBD8062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275BDE-1ED2-0B80-8C53-B3CE089B9BD9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A01923-547B-E23B-C17A-F40155623BE4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864957-FFA1-AA7F-001A-D3AAA1C16ED4}"/>
              </a:ext>
            </a:extLst>
          </p:cNvPr>
          <p:cNvSpPr txBox="1"/>
          <p:nvPr/>
        </p:nvSpPr>
        <p:spPr>
          <a:xfrm>
            <a:off x="419386" y="145855"/>
            <a:ext cx="5128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 and Implications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7C9E00B6-9352-94F0-B944-63375F9B54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2A31E-85F3-E141-2E25-FE12EC359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476" y="2197893"/>
            <a:ext cx="519450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(from baseline + breakdown):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baseline achieves competitive WER on PHOENIX-2014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error breakdown contains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non-trivial deletion and insertion components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 choice affects reported WER (greedy vs beam can differ), so evaluation must be controlled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patterns are consistent with alignment sensitivity in CTC-based CSLR, motivating boundary-aware analysis/modeling as the next step.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FF08E1-FE56-86BE-1912-D43C01B6DB7B}"/>
              </a:ext>
            </a:extLst>
          </p:cNvPr>
          <p:cNvGrpSpPr/>
          <p:nvPr/>
        </p:nvGrpSpPr>
        <p:grpSpPr>
          <a:xfrm>
            <a:off x="6217279" y="2197893"/>
            <a:ext cx="5907437" cy="3130908"/>
            <a:chOff x="3705726" y="2337563"/>
            <a:chExt cx="6329824" cy="268186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3196188-5B78-A3FD-3169-DB7CA075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89030" y="2337563"/>
              <a:ext cx="646520" cy="2681861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61B2CE0-D626-1415-E50F-3BDADE7C8641}"/>
                </a:ext>
              </a:extLst>
            </p:cNvPr>
            <p:cNvGrpSpPr/>
            <p:nvPr/>
          </p:nvGrpSpPr>
          <p:grpSpPr>
            <a:xfrm>
              <a:off x="3705726" y="2337564"/>
              <a:ext cx="5626196" cy="2461306"/>
              <a:chOff x="2261937" y="1704093"/>
              <a:chExt cx="7069985" cy="3036231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FB61B94-B3EC-08D7-6644-3851F0BD4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61937" y="1704093"/>
                <a:ext cx="7069985" cy="2549933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F78F9E8-6FEB-0D32-BD73-6ACEBD926A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836" t="9328" r="1035" b="35876"/>
              <a:stretch>
                <a:fillRect/>
              </a:stretch>
            </p:blipFill>
            <p:spPr>
              <a:xfrm>
                <a:off x="3246840" y="4324766"/>
                <a:ext cx="5943970" cy="415558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D17E-FC64-A49C-EC5C-888F55C3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C464B7AB-1F71-43AF-0294-AA5632EB9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757655-F015-A571-9DF0-A803154B8EA4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98D33B-5F9D-B22F-6D01-C6273DDB6A19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60A808A-66A9-BB34-84B6-B418F2001FBD}"/>
              </a:ext>
            </a:extLst>
          </p:cNvPr>
          <p:cNvSpPr txBox="1"/>
          <p:nvPr/>
        </p:nvSpPr>
        <p:spPr>
          <a:xfrm>
            <a:off x="419386" y="145855"/>
            <a:ext cx="7482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Stroke–Transition Perspective for CSLR (Motivation)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155EA8E5-2817-0C6B-5034-2ACE4BF10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C1A83C-004C-104C-879E-5B95F71EF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375" y="3979807"/>
            <a:ext cx="869325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 all frames are equally informative for recognizing a sign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vs transition: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 carries the main sign evidence; transition connects signs and can be visually mixed (co-articulation, fast motion, signer variability)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CTC link (hypothesis):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ambiguous intervals → lower confidence over time → may increase deletion/insertion after decoding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concept; we do not predict or evaluate stroke/transition boundaries in this paper.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494C3-4E0D-FA0B-CEA6-9DAD3FB5A346}"/>
              </a:ext>
            </a:extLst>
          </p:cNvPr>
          <p:cNvSpPr txBox="1"/>
          <p:nvPr/>
        </p:nvSpPr>
        <p:spPr>
          <a:xfrm>
            <a:off x="-24765" y="5862704"/>
            <a:ext cx="6145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Co-articulation: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of one sign blends into start of the next.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AF8DF93-3CA5-7ACD-7B5C-214F5ED30784}"/>
              </a:ext>
            </a:extLst>
          </p:cNvPr>
          <p:cNvGrpSpPr/>
          <p:nvPr/>
        </p:nvGrpSpPr>
        <p:grpSpPr>
          <a:xfrm>
            <a:off x="205019" y="1139124"/>
            <a:ext cx="11781962" cy="2627073"/>
            <a:chOff x="1392822" y="841408"/>
            <a:chExt cx="9406355" cy="301394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4245691-1207-DC00-ABA7-A3246B4C3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3505"/>
            <a:stretch>
              <a:fillRect/>
            </a:stretch>
          </p:blipFill>
          <p:spPr>
            <a:xfrm>
              <a:off x="1392822" y="841408"/>
              <a:ext cx="9406355" cy="2629999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8286DC-77D9-A074-4192-8154E1DB515A}"/>
                </a:ext>
              </a:extLst>
            </p:cNvPr>
            <p:cNvSpPr txBox="1"/>
            <p:nvPr/>
          </p:nvSpPr>
          <p:spPr>
            <a:xfrm>
              <a:off x="4273866" y="3511055"/>
              <a:ext cx="3644265" cy="3443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Fig: Stroke-Transition Segmentation (Illustrative)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70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1B58B-0B86-C54C-5E7A-1D9AE05BF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32BD0D47-5AFD-7BEE-2B96-067F52B02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C6EC9D-B701-7DF2-E6F3-6FCDB099C332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985938-E7A9-4219-550D-39EFCE94F3C9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99DA18E-0938-0B61-FFE5-3165D7E692C9}"/>
              </a:ext>
            </a:extLst>
          </p:cNvPr>
          <p:cNvSpPr txBox="1"/>
          <p:nvPr/>
        </p:nvSpPr>
        <p:spPr>
          <a:xfrm>
            <a:off x="419386" y="145855"/>
            <a:ext cx="7638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Proxy for Qualitative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BEE27FEA-02D1-B5E1-0C05-C6FC1539D9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8A5BD2-C883-8FA2-E82A-5C9150FB7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427" y="3281785"/>
            <a:ext cx="4677146" cy="25316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7AA35F-84C5-0450-D65A-24805BEF7ECE}"/>
              </a:ext>
            </a:extLst>
          </p:cNvPr>
          <p:cNvSpPr txBox="1"/>
          <p:nvPr/>
        </p:nvSpPr>
        <p:spPr>
          <a:xfrm>
            <a:off x="3021807" y="1044572"/>
            <a:ext cx="614838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compute a simple motion signal: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frame difference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consecutive frames.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highlights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high-change intervals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(often rapid movement), which can be often visually ambiguous.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it as a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where-to-look diagnostic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analyzing recognition errors.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this proxy is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 boundary detector,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we do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claim it equals “transition”.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601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DC94A-C557-F178-72C5-AD324089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2B0E9D72-44DD-DE0A-8F8D-B181DB2C5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058973-C353-FCC1-A884-866AA3A83D29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BC17A8-78CF-3ABE-10C2-CE95923C843C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868284-09B8-507D-A1CF-5BA136DC3D74}"/>
              </a:ext>
            </a:extLst>
          </p:cNvPr>
          <p:cNvSpPr txBox="1"/>
          <p:nvPr/>
        </p:nvSpPr>
        <p:spPr>
          <a:xfrm>
            <a:off x="419386" y="145855"/>
            <a:ext cx="4532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Feature Modulation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DEA41EBF-0A89-5D16-2198-B4323D104D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79E73A-28D3-DFB9-64D5-48120C11940C}"/>
                  </a:ext>
                </a:extLst>
              </p:cNvPr>
              <p:cNvSpPr txBox="1"/>
              <p:nvPr/>
            </p:nvSpPr>
            <p:spPr>
              <a:xfrm>
                <a:off x="1810466" y="1067181"/>
                <a:ext cx="4661115" cy="4798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altLang="ko-KR" sz="14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Idea:</a:t>
                </a:r>
                <a:endParaRPr lang="en-US" altLang="ko-KR" sz="1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sz="1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temporal features based on estimated recognition importance</a:t>
                </a:r>
              </a:p>
              <a:p>
                <a:pPr algn="just"/>
                <a:endParaRPr lang="en-US" altLang="ko-KR" sz="1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altLang="ko-K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Features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(from visual encoder):</a:t>
                </a:r>
                <a:br>
                  <a:rPr lang="en-US" altLang="ko-KR" sz="140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ko-KR" sz="1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ko-KR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altLang="ko-KR" sz="14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ar-AE" altLang="ko-KR" sz="14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 altLang="ko-KR" sz="14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ar-AE" altLang="ko-KR" sz="1400" dirty="0"/>
              </a:p>
              <a:p>
                <a:pPr marL="342900" indent="-3429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altLang="ko-K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Motion Signal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(normalized frame difference):</a:t>
                </a:r>
                <a:br>
                  <a:rPr lang="en-US" altLang="ko-KR" sz="1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 sz="1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ko-KR" sz="1400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ar-AE" altLang="ko-KR" sz="14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altLang="ko-KR" sz="1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altLang="ko-KR" sz="1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altLang="ko-KR" sz="1400">
                            <a:latin typeface="Cambria Math" panose="02040503050406030204" pitchFamily="18" charset="0"/>
                          </a:rPr>
                          <m:t>∥</m:t>
                        </m:r>
                      </m:num>
                      <m:den>
                        <m:func>
                          <m:func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4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‖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sub>
                            </m:s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‖</m:t>
                            </m:r>
                          </m:e>
                        </m:func>
                      </m:den>
                    </m:f>
                  </m:oMath>
                </a14:m>
                <a:endParaRPr lang="ar-AE" altLang="ko-KR" sz="1400" dirty="0"/>
              </a:p>
              <a:p>
                <a:pPr marL="342900" indent="-3429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altLang="ko-K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Importance Weights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(motion-guided):</a:t>
                </a:r>
                <a:br>
                  <a:rPr lang="en-US" altLang="ko-KR" sz="1400" dirty="0"/>
                </a:b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sepChr m:val=","/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ar-AE" altLang="ko-KR" sz="14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,"/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14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altLang="ko-KR" sz="1400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altLang="ko-KR" sz="140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  <m:sup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ar-AE" altLang="ko-KR" sz="1400" dirty="0"/>
              </a:p>
              <a:p>
                <a:pPr lvl="1" algn="just">
                  <a:spcAft>
                    <a:spcPts val="1200"/>
                  </a:spcAft>
                </a:pP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en-US" altLang="ko-KR" sz="1400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ar-AE" altLang="ko-KR" sz="1400" dirty="0"/>
                  <a:t> 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learns to estimate per-frame importance using both features and motion</a:t>
                </a:r>
              </a:p>
              <a:p>
                <a:pPr marL="342900" indent="-3429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altLang="ko-K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Modulated Features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br>
                  <a:rPr lang="en-US" altLang="ko-KR" sz="1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 sz="14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ko-KR" alt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br>
                  <a:rPr lang="ar-AE" altLang="ko-KR" sz="1400" dirty="0">
                    <a:solidFill>
                      <a:srgbClr val="CCCCCC"/>
                    </a:solidFill>
                    <a:latin typeface="KaTeX_Main"/>
                  </a:rPr>
                </a:br>
                <a:endParaRPr lang="en-US" altLang="ko-KR" sz="1400" dirty="0"/>
              </a:p>
              <a:p>
                <a:pPr>
                  <a:spcAft>
                    <a:spcPts val="1200"/>
                  </a:spcAft>
                </a:pPr>
                <a:r>
                  <a:rPr lang="en-US" altLang="ko-K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Modulated sequence → BiLSTM → CTC</a:t>
                </a:r>
              </a:p>
              <a:p>
                <a:pPr algn="just"/>
                <a:endParaRPr lang="en-US" altLang="ko-KR" sz="1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79E73A-28D3-DFB9-64D5-48120C119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466" y="1067181"/>
                <a:ext cx="4661115" cy="4798108"/>
              </a:xfrm>
              <a:prstGeom prst="rect">
                <a:avLst/>
              </a:prstGeom>
              <a:blipFill>
                <a:blip r:embed="rId5"/>
                <a:stretch>
                  <a:fillRect l="-392" t="-254" r="-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B594F9D1-76FA-EA64-3257-944C0B91B2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6405" t="34576" b="13898"/>
          <a:stretch>
            <a:fillRect/>
          </a:stretch>
        </p:blipFill>
        <p:spPr>
          <a:xfrm>
            <a:off x="7287816" y="1326614"/>
            <a:ext cx="3159248" cy="420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23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5102A-4A27-D604-D80A-F8E5F0C1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466B108B-41BA-D969-ECA2-18693207C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076497-2F2E-01A7-0AEB-C2D587201A8E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B7BB34-57E1-9A6C-644F-29CE19EDB228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79E883-F331-B125-213E-1B7BB7BBCD96}"/>
              </a:ext>
            </a:extLst>
          </p:cNvPr>
          <p:cNvSpPr txBox="1"/>
          <p:nvPr/>
        </p:nvSpPr>
        <p:spPr>
          <a:xfrm>
            <a:off x="419386" y="145855"/>
            <a:ext cx="6268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+ Modulation Experimental Results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C01624E8-7D12-CAA2-F490-5E50A5410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5044804-CBED-9B30-E1AE-EF025369095A}"/>
              </a:ext>
            </a:extLst>
          </p:cNvPr>
          <p:cNvGrpSpPr/>
          <p:nvPr/>
        </p:nvGrpSpPr>
        <p:grpSpPr>
          <a:xfrm>
            <a:off x="275560" y="1969810"/>
            <a:ext cx="6295716" cy="2918381"/>
            <a:chOff x="275560" y="1929810"/>
            <a:chExt cx="6295716" cy="29183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13FF3A-8EC8-8B7D-5920-83F5B7E5B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560" y="1929810"/>
              <a:ext cx="6295716" cy="142629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3AA4140-6E98-32C9-614E-C6074CD0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5560" y="3785570"/>
              <a:ext cx="6295716" cy="1062621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CD6945A-B1EF-429B-3216-9975A97984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026" y="1571050"/>
            <a:ext cx="5496732" cy="361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93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E2D0-2A3E-8698-D505-2143B469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92B43139-CDB5-2556-C95F-CA8BDE0BF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F2EDCD-AE97-CC7F-F69F-7D585CD15B3B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92E06-0061-0BC9-06C6-1BCF40FDB006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3CCFF19-B143-F454-B9F5-526609AC8BC3}"/>
              </a:ext>
            </a:extLst>
          </p:cNvPr>
          <p:cNvSpPr txBox="1"/>
          <p:nvPr/>
        </p:nvSpPr>
        <p:spPr>
          <a:xfrm>
            <a:off x="419386" y="145855"/>
            <a:ext cx="3455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Demonstration</a:t>
            </a: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80BBFA17-2E97-8220-3DBA-C30B47EFF8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C686E2D-FCC9-4C92-B17B-B756B226543C}"/>
              </a:ext>
            </a:extLst>
          </p:cNvPr>
          <p:cNvGrpSpPr/>
          <p:nvPr/>
        </p:nvGrpSpPr>
        <p:grpSpPr>
          <a:xfrm>
            <a:off x="-3682" y="1512887"/>
            <a:ext cx="12195682" cy="3431072"/>
            <a:chOff x="-7364" y="1512887"/>
            <a:chExt cx="12195682" cy="3431072"/>
          </a:xfrm>
        </p:grpSpPr>
        <p:pic>
          <p:nvPicPr>
            <p:cNvPr id="3" name="1_baseline_24January_2010_Sunday_tagesschau_default-6">
              <a:hlinkClick r:id="" action="ppaction://media"/>
              <a:extLst>
                <a:ext uri="{FF2B5EF4-FFF2-40B4-BE49-F238E27FC236}">
                  <a16:creationId xmlns:a16="http://schemas.microsoft.com/office/drawing/2014/main" id="{CCE6EE2C-B5FE-05DC-7A11-948F6E5E228F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9"/>
            <a:stretch>
              <a:fillRect/>
            </a:stretch>
          </p:blipFill>
          <p:spPr>
            <a:xfrm>
              <a:off x="-7364" y="1512887"/>
              <a:ext cx="6099682" cy="3431071"/>
            </a:xfrm>
            <a:prstGeom prst="rect">
              <a:avLst/>
            </a:prstGeom>
          </p:spPr>
        </p:pic>
        <p:pic>
          <p:nvPicPr>
            <p:cNvPr id="8" name="2_improved_24January_2010_Sunday_tagesschau_default-6">
              <a:hlinkClick r:id="" action="ppaction://media"/>
              <a:extLst>
                <a:ext uri="{FF2B5EF4-FFF2-40B4-BE49-F238E27FC236}">
                  <a16:creationId xmlns:a16="http://schemas.microsoft.com/office/drawing/2014/main" id="{9C66F8C6-7346-16C7-AE8D-9CA1F9724A35}"/>
                </a:ext>
              </a:extLst>
            </p:cNvPr>
            <p:cNvPicPr>
              <a:picLocks noChangeAspect="1"/>
            </p:cNvPicPr>
            <p:nvPr>
              <a:vide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10"/>
            <a:stretch>
              <a:fillRect/>
            </a:stretch>
          </p:blipFill>
          <p:spPr>
            <a:xfrm>
              <a:off x="6088636" y="1512888"/>
              <a:ext cx="6099682" cy="3431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005698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0870-6448-BA0C-86F1-765D1CD17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70A3A883-6769-AE6B-68A0-9A99D6166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AB93D9-F0F4-1CA9-CB96-DEB170B681E8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6C244B-0D63-5A2D-6D6D-D320547A4768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BD2A9F-2D11-9A41-F535-11A772C389F3}"/>
              </a:ext>
            </a:extLst>
          </p:cNvPr>
          <p:cNvSpPr txBox="1"/>
          <p:nvPr/>
        </p:nvSpPr>
        <p:spPr>
          <a:xfrm>
            <a:off x="419386" y="145855"/>
            <a:ext cx="78006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Direction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472AD874-F6BB-4336-B562-78B98023C4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AC7479-DC71-C0BC-6D9C-05E71716F68C}"/>
              </a:ext>
            </a:extLst>
          </p:cNvPr>
          <p:cNvSpPr txBox="1"/>
          <p:nvPr/>
        </p:nvSpPr>
        <p:spPr>
          <a:xfrm>
            <a:off x="3399113" y="2090172"/>
            <a:ext cx="53937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on controlled studio datasets — in-the-wild generalization unknown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explicit boundary supervision — learned implicitly from CTC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Single-stream modeling — does not distinguish hand/face/body motion</a:t>
            </a:r>
          </a:p>
          <a:p>
            <a:pPr algn="just"/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motion representations (optical flow, self-supervised features)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Boundary-aware loss design with soft temporal constraints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Multi-cue modeling for sign language's multi-articulatory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271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338D7-E95A-2129-C4C1-A0BF7F842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A746F77B-2D3A-C2BD-8F98-608892C8F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FFD2AD-46EF-1402-8389-F9ED9AD676A7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BC6141-0522-44D3-BE8F-837E33EF3290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9318AC-2A90-7864-FB85-96490FDC1E60}"/>
              </a:ext>
            </a:extLst>
          </p:cNvPr>
          <p:cNvSpPr txBox="1"/>
          <p:nvPr/>
        </p:nvSpPr>
        <p:spPr>
          <a:xfrm>
            <a:off x="419386" y="145855"/>
            <a:ext cx="184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DB4F8188-8A69-F211-7E26-808F45EE8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56F0BC-D37D-1A6B-93C6-B95D86CEA590}"/>
              </a:ext>
            </a:extLst>
          </p:cNvPr>
          <p:cNvSpPr txBox="1"/>
          <p:nvPr/>
        </p:nvSpPr>
        <p:spPr>
          <a:xfrm>
            <a:off x="3021807" y="2735452"/>
            <a:ext cx="61483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Reproduced standard CSLR baselines with competitive WER on PHOENIX-2014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analysis reveals deletion-dominant patterns at high-motion intervals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Stroke–transition perspective motivates motion-aware temporal modeling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feature modulation improves WER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Future: explicit boundary modeling, richer motion features, more datasets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345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DA531-6923-8DEC-53CB-19FE289D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igComp 2026 Logo">
            <a:extLst>
              <a:ext uri="{FF2B5EF4-FFF2-40B4-BE49-F238E27FC236}">
                <a16:creationId xmlns:a16="http://schemas.microsoft.com/office/drawing/2014/main" id="{A9B7ED1C-6824-9CB8-9CF7-E88609D70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" y="6317267"/>
            <a:ext cx="1760278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978747-58D8-A643-8C8F-AA09B589055C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B77154-2C8C-F3C5-9847-330D0C305B43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9ACB14-A2C3-8E6C-FB1A-5554281AEFC3}"/>
              </a:ext>
            </a:extLst>
          </p:cNvPr>
          <p:cNvSpPr txBox="1"/>
          <p:nvPr/>
        </p:nvSpPr>
        <p:spPr>
          <a:xfrm>
            <a:off x="419386" y="145855"/>
            <a:ext cx="184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Inha University">
            <a:extLst>
              <a:ext uri="{FF2B5EF4-FFF2-40B4-BE49-F238E27FC236}">
                <a16:creationId xmlns:a16="http://schemas.microsoft.com/office/drawing/2014/main" id="{73A0F025-88D2-C887-899B-19E5CCD42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9" b="15409"/>
          <a:stretch>
            <a:fillRect/>
          </a:stretch>
        </p:blipFill>
        <p:spPr bwMode="auto">
          <a:xfrm>
            <a:off x="10881017" y="6314436"/>
            <a:ext cx="1260795" cy="41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1E6952-C7DC-6093-41C6-778F7E021D04}"/>
              </a:ext>
            </a:extLst>
          </p:cNvPr>
          <p:cNvSpPr txBox="1"/>
          <p:nvPr/>
        </p:nvSpPr>
        <p:spPr>
          <a:xfrm>
            <a:off x="2721685" y="2197893"/>
            <a:ext cx="674862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Koller et al., CVIU 2015 — Continuous SLR: Large Vocabulary Statistical Recognition</a:t>
            </a:r>
          </a:p>
          <a:p>
            <a:pPr algn="just"/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Zhou et al., CVPR 2021 — Sign Back-Translation for SLT</a:t>
            </a:r>
          </a:p>
          <a:p>
            <a:pPr algn="just"/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Min et al., ICCV 2021 — Visual Alignment Constraint (VAC)</a:t>
            </a:r>
          </a:p>
          <a:p>
            <a:pPr algn="just"/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Gan et al., CVPR 2024 — SignGraph</a:t>
            </a:r>
          </a:p>
          <a:p>
            <a:pPr algn="just"/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Hu et al., CVPR 2023 — CorrNet</a:t>
            </a:r>
          </a:p>
          <a:p>
            <a:pPr algn="just"/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Yu et al., AAAI 2025 — OLMD: Orientation-aware Long-term Motion Decoupling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05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3FD7-C548-186C-C64D-757147374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6DDA25-E340-BC9F-3BF8-C0D51779248C}"/>
              </a:ext>
            </a:extLst>
          </p:cNvPr>
          <p:cNvCxnSpPr/>
          <p:nvPr/>
        </p:nvCxnSpPr>
        <p:spPr>
          <a:xfrm>
            <a:off x="0" y="68751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583FF6-3F12-DE3A-6D7F-D927E9A32510}"/>
              </a:ext>
            </a:extLst>
          </p:cNvPr>
          <p:cNvCxnSpPr/>
          <p:nvPr/>
        </p:nvCxnSpPr>
        <p:spPr>
          <a:xfrm>
            <a:off x="0" y="617048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352E89E-72FB-6620-BF06-8581CF06DBA0}"/>
              </a:ext>
            </a:extLst>
          </p:cNvPr>
          <p:cNvSpPr txBox="1"/>
          <p:nvPr/>
        </p:nvSpPr>
        <p:spPr>
          <a:xfrm>
            <a:off x="4957762" y="2828836"/>
            <a:ext cx="2276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THANK YOU</a:t>
            </a:r>
          </a:p>
          <a:p>
            <a:pPr algn="ctr"/>
            <a:endParaRPr lang="en-US" sz="2400"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  <a:p>
            <a:pPr algn="ctr"/>
            <a:r>
              <a:rPr lang="en-US" sz="2400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78895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3085</TotalTime>
  <Words>794</Words>
  <Application>Microsoft Office PowerPoint</Application>
  <PresentationFormat>Widescreen</PresentationFormat>
  <Paragraphs>127</Paragraphs>
  <Slides>14</Slides>
  <Notes>13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KaTeX_Main</vt:lpstr>
      <vt:lpstr>맑은 고딕</vt:lpstr>
      <vt:lpstr>Arial</vt:lpstr>
      <vt:lpstr>Artifakt Element Heavy</vt:lpstr>
      <vt:lpstr>Calibri</vt:lpstr>
      <vt:lpstr>Cambria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니르말아디카리</cp:lastModifiedBy>
  <cp:revision>22</cp:revision>
  <dcterms:created xsi:type="dcterms:W3CDTF">2013-01-27T09:14:16Z</dcterms:created>
  <dcterms:modified xsi:type="dcterms:W3CDTF">2026-01-30T17:23:15Z</dcterms:modified>
  <cp:category/>
</cp:coreProperties>
</file>