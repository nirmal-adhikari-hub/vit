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7" r:id="rId11"/>
    <p:sldId id="268" r:id="rId12"/>
    <p:sldId id="265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Histology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DFC-4CE7-87B2-68C3EEA22135}"/>
              </c:ext>
            </c:extLst>
          </c:dPt>
          <c:dPt>
            <c:idx val="1"/>
            <c:bubble3D val="0"/>
            <c:spPr>
              <a:solidFill>
                <a:srgbClr val="15324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DFC-4CE7-87B2-68C3EEA22135}"/>
              </c:ext>
            </c:extLst>
          </c:dPt>
          <c:dPt>
            <c:idx val="2"/>
            <c:bubble3D val="0"/>
            <c:spPr>
              <a:solidFill>
                <a:srgbClr val="E8595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DFC-4CE7-87B2-68C3EEA22135}"/>
              </c:ext>
            </c:extLst>
          </c:dPt>
          <c:dPt>
            <c:idx val="3"/>
            <c:bubble3D val="0"/>
            <c:spPr>
              <a:solidFill>
                <a:srgbClr val="E8B04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DFC-4CE7-87B2-68C3EEA22135}"/>
              </c:ext>
            </c:extLst>
          </c:dPt>
          <c:dLbls>
            <c:dLbl>
              <c:idx val="0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FC-4CE7-87B2-68C3EEA22135}"/>
                </c:ext>
              </c:extLst>
            </c:dLbl>
            <c:dLbl>
              <c:idx val="1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FC-4CE7-87B2-68C3EEA22135}"/>
                </c:ext>
              </c:extLst>
            </c:dLbl>
            <c:dLbl>
              <c:idx val="2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FC-4CE7-87B2-68C3EEA22135}"/>
                </c:ext>
              </c:extLst>
            </c:dLbl>
            <c:dLbl>
              <c:idx val="3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DFC-4CE7-87B2-68C3EEA2213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Adenocarcinoma</c:v>
                </c:pt>
                <c:pt idx="1">
                  <c:v>Squamous</c:v>
                </c:pt>
                <c:pt idx="2">
                  <c:v>Large cell</c:v>
                </c:pt>
                <c:pt idx="3">
                  <c:v>NSCLC, NOS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</c:v>
                </c:pt>
                <c:pt idx="1">
                  <c:v>15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FC-4CE7-87B2-68C3EEA221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37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513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962848"/>
            <a:ext cx="1371600" cy="0"/>
          </a:xfrm>
          <a:prstGeom prst="line">
            <a:avLst/>
          </a:prstGeom>
          <a:noFill/>
          <a:ln w="25400">
            <a:solidFill>
              <a:srgbClr val="0E8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· three kinds of data · one better prediction.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Nirmal Adhikari (22261712)   ·   BMSE ·   Inha University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D5F67-873B-72B9-34EA-65D31155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963" y="1054287"/>
            <a:ext cx="6695574" cy="3703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·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tumour hides from the immune system</a:t>
            </a:r>
            <a:endParaRPr lang="en-US" sz="3200" dirty="0"/>
          </a:p>
        </p:txBody>
      </p:sp>
      <p:pic>
        <p:nvPicPr>
          <p:cNvPr id="4" name="Image 0" descr="/home/claude/s2_b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8" y="1417320"/>
            <a:ext cx="9692640" cy="6332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·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Immunotherapy: taking the brakes off the immune system</a:t>
            </a:r>
            <a:endParaRPr lang="en-US" sz="3200" dirty="0"/>
          </a:p>
        </p:txBody>
      </p:sp>
      <p:pic>
        <p:nvPicPr>
          <p:cNvPr id="4" name="Image 0" descr="/home/claude/s3_imm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1371600"/>
            <a:ext cx="8961120" cy="58545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DISEASE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NSCLC?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92608" cy="29260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lung cancers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075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splits into two main types. Non-Small Cell Lung Cancer (NSCLC) is by far the more common 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stage only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493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studies stage IV NSCLC — cancer that has already spread beyond the lung.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292608" cy="292608"/>
          </a:xfrm>
          <a:prstGeom prst="ellipse">
            <a:avLst/>
          </a:prstGeom>
          <a:solidFill>
            <a:srgbClr val="E85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cancer?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9103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is where PD-(L)1 immunotherapy is most widely used, so it is the natural place to test who responds.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NSCLC subtypes in this study's cohort (n=247)</a:t>
            </a:r>
            <a:endParaRPr lang="en-US" sz="1500" b="1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740401293"/>
              </p:ext>
            </p:extLst>
          </p:nvPr>
        </p:nvGraphicFramePr>
        <p:xfrm>
          <a:off x="6400800" y="1828800"/>
          <a:ext cx="3108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9692640" y="2221992"/>
            <a:ext cx="237744" cy="23774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0126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 </a:t>
            </a:r>
            <a:r>
              <a:rPr lang="en-US" sz="135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692640" y="2788920"/>
            <a:ext cx="237744" cy="237744"/>
          </a:xfrm>
          <a:prstGeom prst="rect">
            <a:avLst/>
          </a:prstGeom>
          <a:solidFill>
            <a:srgbClr val="15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12680" y="2761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Squamous  </a:t>
            </a:r>
            <a:r>
              <a:rPr lang="en-US" sz="135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692640" y="3355848"/>
            <a:ext cx="237744" cy="237744"/>
          </a:xfrm>
          <a:prstGeom prst="rect">
            <a:avLst/>
          </a:prstGeom>
          <a:solidFill>
            <a:srgbClr val="E85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1268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cell  </a:t>
            </a:r>
            <a:r>
              <a:rPr lang="en-US" sz="135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692640" y="3922776"/>
            <a:ext cx="237744" cy="237744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12680" y="3895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NSCLC, NOS  </a:t>
            </a:r>
            <a:r>
              <a:rPr lang="en-US" sz="135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40080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are the study cohort's own histology mix (Fig. 1c / Table 1).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responds? Only about 1 in 4</a:t>
            </a:r>
            <a:endParaRPr lang="en-US" sz="3200" dirty="0"/>
          </a:p>
        </p:txBody>
      </p:sp>
      <p:pic>
        <p:nvPicPr>
          <p:cNvPr id="4" name="Image 0" descr="/home/claude/s5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8" y="1691640"/>
            <a:ext cx="10058400" cy="5096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WE NEED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biomarker: a measurable clue that predicts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 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any measurable biological signal that tells you something clinically useful. Here: a test run </a:t>
            </a:r>
            <a:r>
              <a:rPr lang="en-US" sz="16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treatment that predicts whether a patient will respond.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31750">
            <a:solidFill>
              <a:srgbClr val="E8B04B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E8B04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" y="3127248"/>
            <a:ext cx="283464" cy="283464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imaging-based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31750">
            <a:solidFill>
              <a:srgbClr val="0E7C7B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502920" cy="50292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67328" y="3127248"/>
            <a:ext cx="283464" cy="28346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stained slide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tissue-based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31750">
            <a:solidFill>
              <a:srgbClr val="E8595A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46520" y="3017520"/>
            <a:ext cx="502920" cy="502920"/>
          </a:xfrm>
          <a:prstGeom prst="ellipse">
            <a:avLst/>
          </a:prstGeom>
          <a:solidFill>
            <a:srgbClr val="E8595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56248" y="3127248"/>
            <a:ext cx="283464" cy="283464"/>
          </a:xfrm>
          <a:prstGeom prst="ellipse">
            <a:avLst/>
          </a:prstGeom>
          <a:solidFill>
            <a:srgbClr val="E859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gene panel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DNA-based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0" y="3429000"/>
            <a:ext cx="777240" cy="411480"/>
          </a:xfrm>
          <a:prstGeom prst="rightArrow">
            <a:avLst/>
          </a:prstGeom>
          <a:solidFill>
            <a:srgbClr val="15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12680" y="29718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5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1268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ideal biomarker is accurate, uses data already collected, and works for every patient.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PAPER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approved biomarkers — real, but not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TPS</a:t>
            </a: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 pathologist scores what % of tumour cells show the PD-L1 protein.</a:t>
            </a: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AUC ≈ 0.73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</a:t>
            </a: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counts DNA mutations per million bases.</a:t>
            </a:r>
            <a:r>
              <a:rPr lang="en-US" sz="1500" b="1" dirty="0">
                <a:solidFill>
                  <a:srgbClr val="E8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AUC ≈ 0.61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657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D9E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fall short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differences are real — the P-values are tiny. But the two groups </a:t>
            </a:r>
            <a:r>
              <a:rPr lang="en-US" sz="1400" b="1" dirty="0">
                <a:solidFill>
                  <a:srgbClr val="E8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heavily.</a:t>
            </a: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Wherever you draw a cut-off, many patients are misclassified. (AUC 0.5 = coin-flip; 0.73 is only modest.)</a:t>
            </a:r>
            <a:endParaRPr lang="en-US" sz="1400" dirty="0"/>
          </a:p>
        </p:txBody>
      </p:sp>
      <p:pic>
        <p:nvPicPr>
          <p:cNvPr id="9" name="Image 0" descr="/home/claude/fig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4520"/>
            <a:ext cx="5669280" cy="35004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66560" y="1508760"/>
            <a:ext cx="201168" cy="201168"/>
          </a:xfrm>
          <a:prstGeom prst="rect">
            <a:avLst/>
          </a:prstGeom>
          <a:solidFill>
            <a:srgbClr val="9DB8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22592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PR/CR (responders)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52560" y="1508760"/>
            <a:ext cx="201168" cy="201168"/>
          </a:xfrm>
          <a:prstGeom prst="rect">
            <a:avLst/>
          </a:prstGeom>
          <a:solidFill>
            <a:srgbClr val="2E6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08592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SD/PD (non-responders)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5532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1d — distribution of each biomarker between responders and non-responders.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using one test — combine all three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already generates three kinds of data during routine care. The idea: feed all three into a single model instead of relying on any one biomarker.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E8B04B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0876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087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 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shape &amp; texture, per lesion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6060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E7C7B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230368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30368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PD-L1 slide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staining pattern, read automatically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37576" y="26060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E8595A"/>
            </a:solidFill>
            <a:prstDash val="solid"/>
          </a:ln>
          <a:effectLst>
            <a:outerShdw blurRad="101600" dist="38100" dir="5400000" algn="bl" rotWithShape="0">
              <a:srgbClr val="9AA8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6617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51976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51976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 panel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genes are mutated, plus TMB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15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together → one model (called </a:t>
            </a:r>
            <a:r>
              <a:rPr lang="en-US" sz="165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DyAM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one prediction.   </a:t>
            </a:r>
            <a:r>
              <a:rPr lang="en-US" sz="1650" i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tests needed — this data is already collected.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68680" y="5504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opens up what DyAM actually does.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BACK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neural network?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E2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solves hard problems with billions of simple cells working together. </a:t>
            </a:r>
            <a:r>
              <a:rPr lang="en-US" sz="1450" dirty="0">
                <a:solidFill>
                  <a:srgbClr val="6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borrows that idea: stack many simple units, and the group can learn patterns no single one could.</a:t>
            </a:r>
            <a:endParaRPr lang="en-US" sz="1450" dirty="0"/>
          </a:p>
        </p:txBody>
      </p:sp>
      <p:pic>
        <p:nvPicPr>
          <p:cNvPr id="6" name="Image 0" descr="/home/claude/nn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0"/>
            <a:ext cx="6858000" cy="4629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869680" y="2715768"/>
            <a:ext cx="310896" cy="310896"/>
          </a:xfrm>
          <a:prstGeom prst="ellipse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0" y="26974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stack of layers
</a:t>
            </a:r>
            <a:r>
              <a:rPr lang="en-US" sz="1200" dirty="0">
                <a:solidFill>
                  <a:srgbClr val="6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enters, passes through hidden layers that detect and combine patterns, and a final answer comes out.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869680" y="4041648"/>
            <a:ext cx="310896" cy="310896"/>
          </a:xfrm>
          <a:prstGeom prst="ellipse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96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26880" y="4023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what it knows
</a:t>
            </a:r>
            <a:r>
              <a:rPr lang="en-US" sz="1200" dirty="0">
                <a:solidFill>
                  <a:srgbClr val="6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has a strength. These weights are the network's "knowledge."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869680" y="5367528"/>
            <a:ext cx="310896" cy="310896"/>
          </a:xfrm>
          <a:prstGeom prst="ellipse">
            <a:avLst/>
          </a:prstGeom>
          <a:solidFill>
            <a:srgbClr val="0E8C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6968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26880" y="53492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from examples
</a:t>
            </a:r>
            <a:r>
              <a:rPr lang="en-US" sz="1200" dirty="0">
                <a:solidFill>
                  <a:srgbClr val="6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cases with known answers; it adjusts the weights to reduce its mistakes — no rules are hand-coded.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IS TRAINED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Training: keep the test honest with cross-validation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6822" y="5316605"/>
            <a:ext cx="3080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89242" y="1836681"/>
            <a:ext cx="373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37882" y="1873257"/>
            <a:ext cx="488513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cohort = 247 patients
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used to build the model.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89242" y="2751081"/>
            <a:ext cx="373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37882" y="2787657"/>
            <a:ext cx="488513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10 equal folds
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randomly divided into ten groups.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89242" y="3665481"/>
            <a:ext cx="373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37882" y="3702057"/>
            <a:ext cx="488513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which fold is the test
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9 folds, test on the 1 held out; repeat ten times. Every patient is tested once on data the model never trained on — this keeps the AUC honest.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89242" y="4945641"/>
            <a:ext cx="373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37882" y="4982217"/>
            <a:ext cx="488513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results, then validate
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predictions merge into one cohort-wide score. Radiology (187) and pathology (105) models are also checked on separate validation patients.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56BC7E-4074-8956-B0D6-377AAD6C2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2212" y="1495676"/>
            <a:ext cx="3197873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563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352283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processing: from a CT scan to clean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6317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3" y="2881144"/>
            <a:ext cx="5486400" cy="3220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732" y="6019075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2b — each tumour outlined; the right column jiggles the outline to test stability.</a:t>
            </a:r>
            <a:endParaRPr lang="en-US" sz="1050" dirty="0"/>
          </a:p>
        </p:txBody>
      </p:sp>
      <p:pic>
        <p:nvPicPr>
          <p:cNvPr id="7" name="Image 1" descr="/home/claude/fig2a.png"/>
          <p:cNvPicPr>
            <a:picLocks noChangeAspect="1"/>
          </p:cNvPicPr>
          <p:nvPr/>
        </p:nvPicPr>
        <p:blipFill>
          <a:blip r:embed="rId4"/>
          <a:srcRect l="14763"/>
          <a:stretch>
            <a:fillRect/>
          </a:stretch>
        </p:blipFill>
        <p:spPr>
          <a:xfrm>
            <a:off x="548640" y="1294619"/>
            <a:ext cx="5559727" cy="14755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" y="1129522"/>
            <a:ext cx="5394960" cy="177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2a — extraction &amp; selection pipeline.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766560" y="17922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0" y="1828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each tumour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traces every lesion on the CT. Nothing can be measured until the region is marked.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66560" y="29352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315200" y="2971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radiomics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computes ~1,688 numbers per lesion — texture, shape, intensity. These numbers are the "features."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66560" y="40782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5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315200" y="4114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stable features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outline is nudged many times; features that swing wildly are discarded, then L1 regularization trims to a small, robust set.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6656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stability matters: a biomarker that flips when the outline shifts a millimetre cannot be trusted in a real clinic.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SIMPLY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DyAM: every clue becomes a number</a:t>
            </a:r>
            <a:endParaRPr lang="en-US" sz="3200" dirty="0"/>
          </a:p>
        </p:txBody>
      </p:sp>
      <p:pic>
        <p:nvPicPr>
          <p:cNvPr id="4" name="Image 0" descr="/home/claude/fig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7040880" cy="4327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0645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1e — the study's own schematic of the DyAM model.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18120" y="1737360"/>
            <a:ext cx="3886200" cy="1078992"/>
          </a:xfrm>
          <a:prstGeom prst="roundRect">
            <a:avLst>
              <a:gd name="adj" fmla="val 6780"/>
            </a:avLst>
          </a:prstGeom>
          <a:solidFill>
            <a:srgbClr val="F2F6FB"/>
          </a:solidFill>
          <a:ln w="22225">
            <a:solidFill>
              <a:srgbClr val="15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1000" y="18470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Four data sources 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01000" y="21945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genomics (top boxes), CT scan split into each tumour = lesion (orange), PD-L1 slide (pink).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2926080"/>
            <a:ext cx="3886200" cy="1078992"/>
          </a:xfrm>
          <a:prstGeom prst="roundRect">
            <a:avLst>
              <a:gd name="adj" fmla="val 6780"/>
            </a:avLst>
          </a:prstGeom>
          <a:solidFill>
            <a:srgbClr val="F2F6FB"/>
          </a:solidFill>
          <a:ln w="222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01000" y="3035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Each becomes numbers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01000" y="33832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lesion and slide is turned into a list of measured features — the dots in the input column.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4114800"/>
            <a:ext cx="3886200" cy="1078992"/>
          </a:xfrm>
          <a:prstGeom prst="roundRect">
            <a:avLst>
              <a:gd name="adj" fmla="val 6780"/>
            </a:avLst>
          </a:prstGeom>
          <a:solidFill>
            <a:srgbClr val="F2F6FB"/>
          </a:solidFill>
          <a:ln w="22225">
            <a:solidFill>
              <a:srgbClr val="E8B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01000" y="4224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Attention weighs them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01000" y="4572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layer learns how much each source matters, and ignores any that are missing.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5303520"/>
            <a:ext cx="3886200" cy="1078992"/>
          </a:xfrm>
          <a:prstGeom prst="roundRect">
            <a:avLst>
              <a:gd name="adj" fmla="val 6780"/>
            </a:avLst>
          </a:prstGeom>
          <a:solidFill>
            <a:srgbClr val="F2F6FB"/>
          </a:solidFill>
          <a:ln w="22225">
            <a:solidFill>
              <a:srgbClr val="E85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01000" y="54132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One answer out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001000" y="57607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collapses to a single node: respond, or not.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CENTRAL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test is enough — combining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source was first tested alone. </a:t>
            </a: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only modest — the best single test (PD-L1) reaches just 0.73. Combining them climbs steadily, and the full DyAM model reaches </a:t>
            </a:r>
            <a:r>
              <a:rPr lang="en-US" sz="1450" b="1" dirty="0">
                <a:solidFill>
                  <a:srgbClr val="0A6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0.80.</a:t>
            </a:r>
            <a:endParaRPr lang="en-US" sz="1450" dirty="0"/>
          </a:p>
        </p:txBody>
      </p:sp>
      <p:pic>
        <p:nvPicPr>
          <p:cNvPr id="6" name="Image 0" descr="/home/claude/res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40280"/>
            <a:ext cx="7863840" cy="42651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24688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4F7F7"/>
          </a:solidFill>
          <a:ln w="19050">
            <a:solidFill>
              <a:srgbClr val="0E8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6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0.80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combined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(AUC: 0.5 = coin-flip, 1.0 = perfect)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source helps less than the last — diminishing returns, because the sources share some information.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WHY THE MODEL DESIGN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is not enough — combine smartly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ways to merge the sources. </a:t>
            </a: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averaging the test scores actually does </a:t>
            </a:r>
            <a:r>
              <a:rPr lang="en-US" sz="14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the best single test. </a:t>
            </a: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DyAM instead learns how much to trust each source — and that earns the jump to 0.80.</a:t>
            </a:r>
            <a:endParaRPr lang="en-US" sz="1450" dirty="0"/>
          </a:p>
        </p:txBody>
      </p:sp>
      <p:pic>
        <p:nvPicPr>
          <p:cNvPr id="6" name="Image 0" descr="/home/claude/res_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5120640" cy="36383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2432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8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086600" y="24688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averaging = 0.72
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source as equally trustworthy for every patient — even the noisy ones.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0" y="3575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8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86600" y="36118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DyAM attention = 0.80
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Learns, per case, which source carries the signal and leans on it; down-weights the rest.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4800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A6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ingredients, smarter weighting. </a:t>
            </a: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paper's core methodological point — the attention mechanism, not just "more data," delivers the gain.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WHY IT MATTERS CLINICALLY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separates good and poor outcomes — early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only helps if it changes care.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survival curves split patients the model called low-risk (dark) vs high-risk (light). A good model pulls them apart — and DyAM (far right) pulls them apart the most, and earliest.</a:t>
            </a:r>
            <a:endParaRPr lang="en-US" sz="1400" dirty="0"/>
          </a:p>
        </p:txBody>
      </p:sp>
      <p:pic>
        <p:nvPicPr>
          <p:cNvPr id="6" name="Image 0" descr="/home/claude/fig5b_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8" y="2286000"/>
            <a:ext cx="10972800" cy="24284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60167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5b — left to right: TMB, TPS, naive averaging, DyAM. (2nd panel is TPS; mislabelled TMB in the source.) Vertical axis = fraction progression-free; horizontal = months.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4F7F7"/>
          </a:solidFill>
          <a:ln w="17780">
            <a:solidFill>
              <a:srgbClr val="0E8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A6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months:  </a:t>
            </a:r>
            <a:r>
              <a:rPr lang="en-US" sz="150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8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r>
              <a:rPr lang="en-US" sz="150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predicted low-risk group had worsened, versus </a:t>
            </a:r>
            <a:r>
              <a:rPr lang="en-US" sz="18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r>
              <a:rPr lang="en-US" sz="150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high-risk group. Early enough to guide a real treatment decision.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CAN WE TRUST 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Interpretable and robust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clinical model must show its reasoning and survive missing data.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DyAM's attention weights reveal which sources drive each prediction — so it is not a black box.</a:t>
            </a:r>
            <a:endParaRPr lang="en-US" sz="1400" dirty="0"/>
          </a:p>
        </p:txBody>
      </p:sp>
      <p:pic>
        <p:nvPicPr>
          <p:cNvPr id="6" name="Image 0" descr="/home/claude/res_rem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6766560" cy="2552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929739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switching off one source (attention-reweighting analysis, Fig. 6c).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89520" y="2340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8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9244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texture &amp; genomics drive it
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either sharply weakens early separation — these carry the most signal.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0" y="3483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8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2440" y="3520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missing data
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PD-L1/IHC barely changes performance; the masking design lets it work with whatever a patient has.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89520" y="4626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8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92440" y="4663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fluke
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multimodal results beat permutation-test baselines, and held up on the separate radiology and pathology validation cohorts.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strong, what to be cautious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6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contribution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already collected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new tests — CT, PD-L1 and sequencing are routine in advanced NSCLC.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3101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every single biomarker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0.80 vs 0.73 for the best standalone marker.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24281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missing data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Masking lets it predict from whatever a patient has.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5175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517550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 box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Attention weights show which source drove each prediction.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B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5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cautions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377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centre, 247 patients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modest, single-institution cohort.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3101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tested at other hospitals or scanners.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24281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expert effort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Tumours are outlined and slides read by hand.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5175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517550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decision-grade yet 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AUC 0.80 is promising — a decision aid, not a replacement for a clinician.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sentence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test reliably predicts immunotherapy response — but combining radiology, pathology and genomics with a model that </a:t>
            </a:r>
            <a:r>
              <a:rPr lang="en-US" sz="2600" b="1" dirty="0">
                <a:solidFill>
                  <a:srgbClr val="0A64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how much to trust each source</a:t>
            </a:r>
            <a:r>
              <a:rPr lang="en-US" sz="2600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does meaningfully better: </a:t>
            </a:r>
            <a:r>
              <a:rPr lang="en-US" sz="26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0.80 vs ≤0.73</a:t>
            </a:r>
            <a:r>
              <a:rPr lang="en-US" sz="2600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with early, clinically useful separation of responders from non-responders.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4023360"/>
            <a:ext cx="1060704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6817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proof-of-principle that routine, multimodal data can sharpen who benefits from immunotherapy.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46817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multi-site cohorts and automated segmentation to move from aid to tool.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lung cancer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0" y="46817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is not NSCLC-specific — the same fusion approach could extend to other cancers and diseases.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 et al., Nature Cancer 3:1151–1164 (2022)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230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E8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58368" y="2240280"/>
            <a:ext cx="1371600" cy="0"/>
          </a:xfrm>
          <a:prstGeom prst="line">
            <a:avLst/>
          </a:prstGeom>
          <a:noFill/>
          <a:ln w="25400">
            <a:solidFill>
              <a:srgbClr val="0E8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" y="2423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0879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Nirmal Adhikari (22261712)  ·  BMSE Convergence I  ·  Vanguri et al., Nature Cancer (2022)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1928</Words>
  <Application>Microsoft Office PowerPoint</Application>
  <PresentationFormat>Widescreen</PresentationFormat>
  <Paragraphs>220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NSCLC Multimodal Immunotherapy Prediction</dc:title>
  <dc:subject>PptxGenJS Presentation</dc:subject>
  <dc:creator>Nirmal Adhikari</dc:creator>
  <cp:lastModifiedBy>니르말아디카리</cp:lastModifiedBy>
  <cp:revision>7</cp:revision>
  <dcterms:created xsi:type="dcterms:W3CDTF">2026-06-21T06:33:45Z</dcterms:created>
  <dcterms:modified xsi:type="dcterms:W3CDTF">2026-06-21T13:53:50Z</dcterms:modified>
</cp:coreProperties>
</file>