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64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2" autoAdjust="0"/>
    <p:restoredTop sz="94610"/>
  </p:normalViewPr>
  <p:slideViewPr>
    <p:cSldViewPr snapToGrid="0" snapToObjects="1">
      <p:cViewPr varScale="1">
        <p:scale>
          <a:sx n="159" d="100"/>
          <a:sy n="159" d="100"/>
        </p:scale>
        <p:origin x="228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666129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(~30s) One sentence: this paper shows that combining a CT scan, a stained tissue slide, and a tumour gene panel with machine learning predicts immunotherapy response better than any single test today. The punchline number to remember is AUC 0.80.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(~1.5 min) Acknowledge the audience knows immunotherapy. Spend your words on the gap: prediction. Point at the violin plot: the two coloured shapes overlap heavily, so no single cutoff separates them cleanly. Define AUC in one line if needed: 0.5 is a coin flip, 1.0 is perfect; PD-L1 alone is ~0.73, TMB ~0.61.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(~2 min) This is the heart of the talk. Walk left to right: three everyday data types feed one model that combines them into a single answer. Use the tumour-board analogy out loud — it lands well with a biomedical audience. Emphasise: the data already exists in routine care, so the contribution is the smart combination, not new experiments.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(~2 min) Keep it conceptual — do not show equations. Step 1 is the key insight for a non-AI audience: images and genes must become numbers before any model can use them; the CT figure makes this concrete. Step 2: 'attention' just means the model learns which data matters, and 'masking' means it tolerates missing data — important because most patients don't have all three.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(~1.5 min) The single most important slide. Point at the rising bars from left (single tests) to right (combined). Two numbers: 0.80 for the full model, 0.72 for naive averaging — the gap shows the win comes from the smart combination, not just from having more data. Re-state AUC plainly for the less-technical audience.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(~1.5 min) Translate the plot: each line is the fraction of patients still doing well over time; higher is better. The clinical value is not just the accuracy number but EARLY separation — telling responders from non-responders within a few months matters for real decisions. 21% vs 79% at 4 months is the memorable contrast.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(~1 min) Balance shows you read it critically. The limitation to volunteer: single hospital, no external validation — so we don't yet know it transfers elsewhere. And be honest that 0.80 supports a doctor's decision rather than replacing it. Volunteering these pre-empts most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(~1 min) Land the one-sentence takeaway, then open the floor. Seed the three questions so the silence isn't awkward. If asked which data mattered most: the paper found CT texture and genomics contributed most; PD-L1 texture was the most redundant.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645920"/>
            <a:ext cx="10817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PRESENTATION 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85800" y="2057400"/>
            <a:ext cx="1081735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en-US" sz="2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Combining Radiology, Pathology and Genomics to Predict Who Responds to Immunotherapy in Lung Cancer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85800" y="3657600"/>
            <a:ext cx="2743200" cy="0"/>
          </a:xfrm>
          <a:prstGeom prst="line">
            <a:avLst/>
          </a:prstGeom>
          <a:noFill/>
          <a:ln w="1905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85800" y="3840480"/>
            <a:ext cx="10817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Vanguri, Luo, Aukerman et al.   </a:t>
            </a:r>
            <a:r>
              <a:rPr lang="en-US" sz="14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Nature Cancer</a:t>
            </a: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3, 1151–1164 (2022)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" y="42519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 picture: one model, three kinds of data, one better prediction.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58064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[Nirmal Adhikari (</a:t>
            </a: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22261712</a:t>
            </a: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)]  ·  [BMSE Convergence I]  ·  [2026-06-11]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614476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A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Inha University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17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85800" y="621792"/>
            <a:ext cx="108173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can't predict who will benefit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85800" y="1463040"/>
            <a:ext cx="5852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75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Immunotherapy is now standard for advanced lung cancer, and can give years of benefit — but only to about </a:t>
            </a: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in 4 patients</a:t>
            </a: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We can't reliably tell in advance who.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85800" y="2560320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75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approved tests — </a:t>
            </a: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PD-L1 and TMB</a:t>
            </a: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each look at only one kind of data, and each is only modestly accurate on its own.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85800" y="3611880"/>
            <a:ext cx="0" cy="1554480"/>
          </a:xfrm>
          <a:prstGeom prst="line">
            <a:avLst/>
          </a:prstGeom>
          <a:noFill/>
          <a:ln w="2540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14400" y="4061362"/>
            <a:ext cx="5577840" cy="5486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3"/>
              </a:lnSpc>
              <a:buNone/>
            </a:pPr>
            <a:r>
              <a:rPr lang="en-US" sz="145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intuition: </a:t>
            </a: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any single test, responders and non-responders overlap too much. A line drawn anywhere misclassifies many patients.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6766560" y="5050088"/>
            <a:ext cx="4736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Fig. 1d — light = responders, dark = non-responders.  Vanguri et al., Nature Cancer 3:1151–1164 (2022).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685800" y="6419088"/>
            <a:ext cx="10817352" cy="0"/>
          </a:xfrm>
          <a:prstGeom prst="line">
            <a:avLst/>
          </a:prstGeom>
          <a:noFill/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6858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A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Inha University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110459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ACF50B4-35C9-A675-1AF8-FA64029F85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7147" y="1709929"/>
            <a:ext cx="5135417" cy="323697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17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KEY IDEA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85800" y="621792"/>
            <a:ext cx="108173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Combine three views of the same patient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85800" y="1783080"/>
            <a:ext cx="3108960" cy="914400"/>
          </a:xfrm>
          <a:prstGeom prst="rect">
            <a:avLst/>
          </a:prstGeom>
          <a:solidFill>
            <a:srgbClr val="FFFFFF"/>
          </a:solidFill>
          <a:ln w="15875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68680" y="189280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Radiology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68680" y="2203704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 scan </a:t>
            </a:r>
            <a:r>
              <a:rPr lang="en-US" sz="11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shape &amp; texture of the tumour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794760" y="2240280"/>
            <a:ext cx="1371600" cy="1234440"/>
          </a:xfrm>
          <a:prstGeom prst="line">
            <a:avLst/>
          </a:prstGeom>
          <a:noFill/>
          <a:ln w="15875">
            <a:solidFill>
              <a:srgbClr val="595959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85800" y="3017520"/>
            <a:ext cx="3108960" cy="914400"/>
          </a:xfrm>
          <a:prstGeom prst="rect">
            <a:avLst/>
          </a:prstGeom>
          <a:solidFill>
            <a:srgbClr val="FFFFFF"/>
          </a:solidFill>
          <a:ln w="15875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68680" y="312724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Pathology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3438144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PD-L1 tissue slide </a:t>
            </a:r>
            <a:r>
              <a:rPr lang="en-US" sz="11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pattern of staining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794760" y="3474720"/>
            <a:ext cx="1371600" cy="0"/>
          </a:xfrm>
          <a:prstGeom prst="line">
            <a:avLst/>
          </a:prstGeom>
          <a:noFill/>
          <a:ln w="15875">
            <a:solidFill>
              <a:srgbClr val="595959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85800" y="4251960"/>
            <a:ext cx="3108960" cy="914400"/>
          </a:xfrm>
          <a:prstGeom prst="rect">
            <a:avLst/>
          </a:prstGeom>
          <a:solidFill>
            <a:srgbClr val="FFFFFF"/>
          </a:solidFill>
          <a:ln w="15875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68680" y="436168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Genomics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68680" y="4672584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tumour gene panel </a:t>
            </a:r>
            <a:r>
              <a:rPr lang="en-US" sz="11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which genes are altered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 flipV="1">
            <a:off x="3794760" y="3447288"/>
            <a:ext cx="1371600" cy="1261872"/>
          </a:xfrm>
          <a:prstGeom prst="line">
            <a:avLst/>
          </a:prstGeom>
          <a:noFill/>
          <a:ln w="15875">
            <a:solidFill>
              <a:srgbClr val="595959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166360" y="3017520"/>
            <a:ext cx="2468880" cy="1188720"/>
          </a:xfrm>
          <a:prstGeom prst="rect">
            <a:avLst/>
          </a:prstGeom>
          <a:solidFill>
            <a:srgbClr val="F4F6F8"/>
          </a:solidFill>
          <a:ln w="15875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166360" y="3182112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weighs each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A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 combines them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166360" y="385876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(the “DyAM” model)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635240" y="3611880"/>
            <a:ext cx="777240" cy="0"/>
          </a:xfrm>
          <a:prstGeom prst="line">
            <a:avLst/>
          </a:prstGeom>
          <a:noFill/>
          <a:ln w="15875">
            <a:solidFill>
              <a:srgbClr val="595959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8412480" y="3017520"/>
            <a:ext cx="3090672" cy="1188720"/>
          </a:xfrm>
          <a:prstGeom prst="rect">
            <a:avLst/>
          </a:prstGeom>
          <a:solidFill>
            <a:srgbClr val="1A3A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412480" y="3017520"/>
            <a:ext cx="30906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prediction: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respond or not?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85800" y="5486400"/>
            <a:ext cx="10817352" cy="0"/>
          </a:xfrm>
          <a:prstGeom prst="line">
            <a:avLst/>
          </a:prstGeom>
          <a:noFill/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85800" y="5623560"/>
            <a:ext cx="108173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58"/>
              </a:lnSpc>
              <a:buNone/>
            </a:pPr>
            <a:r>
              <a:rPr lang="en-US" sz="135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a tumour board: </a:t>
            </a: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specialists each give an opinion, and a combined judgement is reached — and it can still decide even if one specialist's report is missing. No new tests are needed; this data is already collected.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85800" y="6419088"/>
            <a:ext cx="10817352" cy="0"/>
          </a:xfrm>
          <a:prstGeom prst="line">
            <a:avLst/>
          </a:prstGeom>
          <a:noFill/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858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A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Inha University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10459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17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85800" y="621792"/>
            <a:ext cx="108173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simple steps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85800" y="150876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A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234440" y="155448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Turn each data type into numbers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34440" y="1965960"/>
            <a:ext cx="4800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3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computer can't read a scan or a slide directly. So each tumour is outlined and described by numbers — its shape, texture, staining pattern, mutations. These numbers are called </a:t>
            </a:r>
            <a:r>
              <a:rPr lang="en-US" sz="14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  <p:pic>
        <p:nvPicPr>
          <p:cNvPr id="7" name="Image 0" descr="/home/claude/fig/fig2b_ct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7718" y="1508760"/>
            <a:ext cx="4414236" cy="19659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46520" y="3520440"/>
            <a:ext cx="5056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Fig. 2b — a lung tumour on CT (left); the same tumour outlined by a radiologist in red (right).  Vanguri et al., Nature Cancer 3:1151–1164 (2022).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685800" y="3886200"/>
            <a:ext cx="10817352" cy="0"/>
          </a:xfrm>
          <a:prstGeom prst="line">
            <a:avLst/>
          </a:prstGeom>
          <a:noFill/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685800" y="40690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A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400" dirty="0"/>
          </a:p>
        </p:txBody>
      </p:sp>
      <p:sp>
        <p:nvSpPr>
          <p:cNvPr id="11" name="Text 8"/>
          <p:cNvSpPr/>
          <p:nvPr/>
        </p:nvSpPr>
        <p:spPr>
          <a:xfrm>
            <a:off x="1234440" y="41148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Let the model weigh and combine them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234440" y="4526280"/>
            <a:ext cx="1026871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3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learns </a:t>
            </a:r>
            <a:r>
              <a:rPr lang="en-US" sz="14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to trust each data type</a:t>
            </a: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(called “attention”), and simply </a:t>
            </a:r>
            <a:r>
              <a:rPr lang="en-US" sz="14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skips any data that is missing</a:t>
            </a: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a patient. That lets it use whatever each patient happens to have.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685800" y="6419088"/>
            <a:ext cx="10817352" cy="0"/>
          </a:xfrm>
          <a:prstGeom prst="line">
            <a:avLst/>
          </a:prstGeom>
          <a:noFill/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6858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A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Inha University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110459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17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85800" y="621792"/>
            <a:ext cx="108173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Combining beats every single test</a:t>
            </a:r>
            <a:endParaRPr lang="en-US" sz="2600" dirty="0"/>
          </a:p>
        </p:txBody>
      </p:sp>
      <p:pic>
        <p:nvPicPr>
          <p:cNvPr id="4" name="Image 0" descr="/home/claude/fig/fig5c_au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099345"/>
            <a:ext cx="7589520" cy="201923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85800" y="4173439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Fig. 5c — each bar is a model's AUC (higher = better).  Vanguri et al., Nature Cancer 3:1151–1164 (2022).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8503920" y="1554480"/>
            <a:ext cx="29992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A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AUC 0.80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8503920" y="2103120"/>
            <a:ext cx="2999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combined model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503920" y="2606040"/>
            <a:ext cx="299923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single test reached only ~0.73</a:t>
            </a:r>
            <a:endParaRPr lang="en-US" sz="1350" dirty="0"/>
          </a:p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data added = higher accuracy: 0.73 → 0.76 → 0.78 → 0.80</a:t>
            </a:r>
            <a:endParaRPr lang="en-US" sz="1350" dirty="0"/>
          </a:p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Smartly combining (0.80) beats simply averaging the tests (0.72) — how you combine matters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8503920" y="5394960"/>
            <a:ext cx="2999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AUC: 0.5 = guessing, 1.0 = perfect.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85800" y="6419088"/>
            <a:ext cx="10817352" cy="0"/>
          </a:xfrm>
          <a:prstGeom prst="line">
            <a:avLst/>
          </a:prstGeom>
          <a:noFill/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6858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A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Inha University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110459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17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 CLINICALLY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85800" y="621792"/>
            <a:ext cx="108173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 separates good and poor outcomes — early</a:t>
            </a:r>
            <a:endParaRPr lang="en-US" sz="2600" dirty="0"/>
          </a:p>
        </p:txBody>
      </p:sp>
      <p:pic>
        <p:nvPicPr>
          <p:cNvPr id="4" name="Image 0" descr="/home/claude/fig/fig5b_k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708814"/>
            <a:ext cx="10817352" cy="243453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85800" y="419821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Fig. 5b — survival over time, split into predicted high- vs low-risk groups.  Vanguri et al., Nature Cancer 3:1151–1164 (2022).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685800" y="5074920"/>
            <a:ext cx="108173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3"/>
              </a:lnSpc>
              <a:buNone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Higher, flatter curve = better outcome. </a:t>
            </a:r>
            <a:r>
              <a:rPr lang="en-US" sz="145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combined model (far right) pulls the two groups furthest apart</a:t>
            </a: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and does it early. By 4 months, only 21% of the low-risk group had worsened, versus 79% of the high-risk group.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685800" y="6419088"/>
            <a:ext cx="10817352" cy="0"/>
          </a:xfrm>
          <a:prstGeom prst="line">
            <a:avLst/>
          </a:prstGeom>
          <a:noFill/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858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A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Inha University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110459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17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PUTTING IT IN PERSPECTIVE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85800" y="621792"/>
            <a:ext cx="108173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What's strong, what to be cautious about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85800" y="1554480"/>
            <a:ext cx="51343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it's a real contribution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85800" y="2011680"/>
            <a:ext cx="5134356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8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data already collected in routine care</a:t>
            </a:r>
            <a:endParaRPr lang="en-US" sz="1400" dirty="0"/>
          </a:p>
          <a:p>
            <a:pPr marL="342900" indent="-342900">
              <a:lnSpc>
                <a:spcPts val="18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Clearly beats every single biomarker</a:t>
            </a:r>
            <a:endParaRPr lang="en-US" sz="1400" dirty="0"/>
          </a:p>
          <a:p>
            <a:pPr marL="342900" indent="-342900">
              <a:lnSpc>
                <a:spcPts val="18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even when some data is missing</a:t>
            </a:r>
            <a:endParaRPr lang="en-US" sz="1400" dirty="0"/>
          </a:p>
          <a:p>
            <a:pPr marL="342900" indent="-342900">
              <a:lnSpc>
                <a:spcPts val="18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show which data drove each prediction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094476" y="1600200"/>
            <a:ext cx="0" cy="3474720"/>
          </a:xfrm>
          <a:prstGeom prst="line">
            <a:avLst/>
          </a:prstGeom>
          <a:noFill/>
          <a:ln w="1270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368796" y="1554480"/>
            <a:ext cx="51343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to be cautious about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368796" y="2011680"/>
            <a:ext cx="5134356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8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hospital, 247 patients — fairly small</a:t>
            </a:r>
            <a:endParaRPr lang="en-US" sz="1400" dirty="0"/>
          </a:p>
          <a:p>
            <a:pPr marL="342900" indent="-342900">
              <a:lnSpc>
                <a:spcPts val="18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yet tested at other hospitals</a:t>
            </a:r>
            <a:endParaRPr lang="en-US" sz="1400" dirty="0"/>
          </a:p>
          <a:p>
            <a:pPr marL="342900" indent="-342900">
              <a:lnSpc>
                <a:spcPts val="18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experts to outline tumours / read slides</a:t>
            </a:r>
            <a:endParaRPr lang="en-US" sz="1400" dirty="0"/>
          </a:p>
          <a:p>
            <a:pPr marL="342900" indent="-342900">
              <a:lnSpc>
                <a:spcPts val="18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0.80 is promising, not yet ready to decide alone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85800" y="6419088"/>
            <a:ext cx="10817352" cy="0"/>
          </a:xfrm>
          <a:prstGeom prst="line">
            <a:avLst/>
          </a:prstGeom>
          <a:noFill/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858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A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Inha University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10459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17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ONE SENTENCE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85800" y="621792"/>
            <a:ext cx="108173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Takeaway and discussion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85800" y="1600200"/>
            <a:ext cx="108173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19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single test reliably predicts immunotherapy response — but combining radiology, pathology and genomics with a model that weighs each source does meaningfully better (AUC 0.80 vs ≤0.73).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685800" y="2743200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the method isn't lung-specific — the same recipe could extend to other cancers and diseases.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85800" y="3657600"/>
            <a:ext cx="10817352" cy="0"/>
          </a:xfrm>
          <a:prstGeom prst="line">
            <a:avLst/>
          </a:prstGeom>
          <a:noFill/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85800" y="3840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Questions?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685800" y="6419088"/>
            <a:ext cx="10817352" cy="0"/>
          </a:xfrm>
          <a:prstGeom prst="line">
            <a:avLst/>
          </a:prstGeom>
          <a:noFill/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858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A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Inha University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10459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147</TotalTime>
  <Words>1253</Words>
  <Application>Microsoft Office PowerPoint</Application>
  <PresentationFormat>Widescreen</PresentationFormat>
  <Paragraphs>95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Multimodal AI for Immunotherapy Response — 10-minute overview</dc:title>
  <dc:subject>PptxGenJS Presentation</dc:subject>
  <dc:creator>Presenter</dc:creator>
  <cp:lastModifiedBy>니르말아디카리</cp:lastModifiedBy>
  <cp:revision>3</cp:revision>
  <dcterms:created xsi:type="dcterms:W3CDTF">2026-06-05T10:57:30Z</dcterms:created>
  <dcterms:modified xsi:type="dcterms:W3CDTF">2026-06-11T04:22:53Z</dcterms:modified>
</cp:coreProperties>
</file>